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team, and the one-line idea: LLM agents debate each candidate, but a deterministic audit computed in code is the ground truth they cannot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LLM call gives a fluent ranking. Three problems: no retrieval grounding, no way to audit the stated reason, and known biases in LLM rankers [9] and LLM judges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then the five objectives. Objective 5 is why we report results with their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references total: 39 from the survey plus five classic recommender papers. Five are India-affiliated. Point out the right-hand column: every theme leaves something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judged on item recommendation. The debate/judge row is NLP work on QA and NLG evaluation, so it never touches ranked items. DebateRec is the only row with every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audit sits before the debate so every agent sees the same ground truth. The LLM backend is a runtime switch: Gemini, Ollama or a deterministic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authoritative for any facet they resolve, because they cannot hallucinate a number. The LLM can only add facets the rules missed. Note how 'must' versus 'preferably' changes hard versus 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catches exact terms; word TF-IDF catches paraphrase; character n-grams let 'sci-fi' reach 'science fiction'. Dense embeddings are an optional drop-in. The weights are hyperparameters swept in the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is computed in plain code before any LLM sees a candidate. The Judge is told to discard any argument that contradicts it. Soft satisfaction decays with the miss, scaled by the real spread of that facet in the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fixed rounds for every candidate, which is what makes the stage measurable. One role equals one LLM call, one prompt, one structured output. Dataset text is fenced as untrusted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public dataset covers all seven domains, so we built one. 214 records are hand-curated and real; 22,400 are generated and flagged. All quality claims use the curated pool only. Synthetic items use invented brands and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were written from the catalogue before any system ran and are not derived from the constraint checker, so constraint-based methods are not graded against their own output. E2-E4 ran on 8 queries and 5 candidates for local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honest result: retrieval lifts NDCG from 0.194 to 0.720. On the 8-query live subset the debate did not beat retrieval alone; two runs varied by up to 0.11, so this is inconclusive, not negative. The matched 21-query paired run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extraction call plus five calls per added role at five debated candidates. Latency is the main practical cost, which is why the shortlist width is the key tuning knob.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llama3.1:8b transcript. The Supporter overstates the genre match; the Critic notices only one of the listed genres is science fiction. The Judge's score follows the audit (runtime FAIL, 0.529), not the Supporter's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maps to a family from the survey. The common thread: we add an adversarial, auditable stage that earlier families 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small live subset, synthetic catalogue, single-turn extraction, and two tooling bugs found while experimenting. The future work list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contribution and the honest status: built, tested, evaluated with limits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44-reference list is in the report and the IEEE paper. Invite questions and 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891B2"/>
          </a:solidFill>
          <a:ln w="12700">
            <a:solidFill>
              <a:srgbClr val="0891B2"/>
            </a:solidFill>
            <a:prstDash val="solid"/>
          </a:ln>
        </p:spPr>
      </p:sp>
      <p:sp>
        <p:nvSpPr>
          <p:cNvPr id="3" name="Text 1"/>
          <p:cNvSpPr/>
          <p:nvPr/>
        </p:nvSpPr>
        <p:spPr>
          <a:xfrm>
            <a:off x="822960" y="731520"/>
            <a:ext cx="10058400" cy="365760"/>
          </a:xfrm>
          <a:prstGeom prst="rect">
            <a:avLst/>
          </a:prstGeom>
          <a:noFill/>
          <a:ln/>
        </p:spPr>
        <p:txBody>
          <a:bodyPr wrap="square" lIns="0" tIns="0" rIns="0" bIns="0" rtlCol="0" anchor="ctr"/>
          <a:lstStyle/>
          <a:p>
            <a:pPr indent="0" marL="0">
              <a:buNone/>
            </a:pPr>
            <a:r>
              <a:rPr lang="en-US" sz="1400" b="1" spc="200" kern="0" dirty="0">
                <a:solidFill>
                  <a:srgbClr val="93C5FD"/>
                </a:solidFill>
                <a:latin typeface="Calibri" pitchFamily="34" charset="0"/>
                <a:ea typeface="Calibri" pitchFamily="34" charset="-122"/>
                <a:cs typeface="Calibri" pitchFamily="34" charset="-120"/>
              </a:rPr>
              <a:t>PROJECT BASED COMPONENT  |  CSE4077 RECOMMENDER SYSTEMS</a:t>
            </a:r>
            <a:endParaRPr lang="en-US" sz="1400" dirty="0"/>
          </a:p>
        </p:txBody>
      </p:sp>
      <p:sp>
        <p:nvSpPr>
          <p:cNvPr id="4" name="Text 2"/>
          <p:cNvSpPr/>
          <p:nvPr/>
        </p:nvSpPr>
        <p:spPr>
          <a:xfrm>
            <a:off x="822960" y="1371600"/>
            <a:ext cx="10424160" cy="20116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AI Debate-Based Multi-Domain Recommendation System using Large Language Models</a:t>
            </a:r>
            <a:endParaRPr lang="en-US" sz="4200" dirty="0"/>
          </a:p>
        </p:txBody>
      </p:sp>
      <p:sp>
        <p:nvSpPr>
          <p:cNvPr id="5" name="Text 3"/>
          <p:cNvSpPr/>
          <p:nvPr/>
        </p:nvSpPr>
        <p:spPr>
          <a:xfrm>
            <a:off x="822960" y="3520440"/>
            <a:ext cx="9601200" cy="822960"/>
          </a:xfrm>
          <a:prstGeom prst="rect">
            <a:avLst/>
          </a:prstGeom>
          <a:noFill/>
          <a:ln/>
        </p:spPr>
        <p:txBody>
          <a:bodyPr wrap="square" lIns="0" tIns="0" rIns="0" bIns="0" rtlCol="0" anchor="t"/>
          <a:lstStyle/>
          <a:p>
            <a:pPr indent="0" marL="0">
              <a:buNone/>
            </a:pPr>
            <a:r>
              <a:rPr lang="en-US" sz="2000" i="1" dirty="0">
                <a:solidFill>
                  <a:srgbClr val="CBD5E1"/>
                </a:solidFill>
                <a:latin typeface="Calibri" pitchFamily="34" charset="0"/>
                <a:ea typeface="Calibri" pitchFamily="34" charset="-122"/>
                <a:cs typeface="Calibri" pitchFamily="34" charset="-120"/>
              </a:rPr>
              <a:t>Supporter, Critic and Judge agents argue over every candidate, and a deterministic constraint audit keeps them honest.</a:t>
            </a:r>
            <a:endParaRPr lang="en-US" sz="2000" dirty="0"/>
          </a:p>
        </p:txBody>
      </p:sp>
      <p:sp>
        <p:nvSpPr>
          <p:cNvPr id="6" name="Text 4"/>
          <p:cNvSpPr/>
          <p:nvPr/>
        </p:nvSpPr>
        <p:spPr>
          <a:xfrm>
            <a:off x="822960" y="4572000"/>
            <a:ext cx="5486400" cy="1188720"/>
          </a:xfrm>
          <a:prstGeom prst="rect">
            <a:avLst/>
          </a:prstGeom>
          <a:noFill/>
          <a:ln/>
        </p:spPr>
        <p:txBody>
          <a:bodyPr wrap="square" lIns="0" tIns="0" rIns="0" bIns="0" rtlCol="0" anchor="t"/>
          <a:lstStyle/>
          <a:p>
            <a:pPr indent="0" marL="0">
              <a:buNone/>
            </a:pPr>
            <a:r>
              <a:rPr lang="en-US" sz="1900" b="1" dirty="0">
                <a:solidFill>
                  <a:srgbClr val="FDE047"/>
                </a:solidFill>
                <a:latin typeface="Calibri" pitchFamily="34" charset="0"/>
                <a:ea typeface="Calibri" pitchFamily="34" charset="-122"/>
                <a:cs typeface="Calibri" pitchFamily="34" charset="-120"/>
              </a:rPr>
              <a:t>[FILL IN: Student 1 - Reg. No.]</a:t>
            </a:r>
            <a:endParaRPr lang="en-US" sz="1900" dirty="0"/>
          </a:p>
          <a:p>
            <a:pPr indent="0" marL="0">
              <a:buNone/>
            </a:pPr>
            <a:r>
              <a:rPr lang="en-US" sz="1900" b="1" dirty="0">
                <a:solidFill>
                  <a:srgbClr val="FDE047"/>
                </a:solidFill>
                <a:latin typeface="Calibri" pitchFamily="34" charset="0"/>
                <a:ea typeface="Calibri" pitchFamily="34" charset="-122"/>
                <a:cs typeface="Calibri" pitchFamily="34" charset="-120"/>
              </a:rPr>
              <a:t>[FILL IN: Student 2 - Reg. No.]</a:t>
            </a:r>
            <a:endParaRPr lang="en-US" sz="1900" dirty="0"/>
          </a:p>
          <a:p>
            <a:pPr indent="0" marL="0">
              <a:buNone/>
            </a:pPr>
            <a:r>
              <a:rPr lang="en-US" sz="1900" b="1" dirty="0">
                <a:solidFill>
                  <a:srgbClr val="FDE047"/>
                </a:solidFill>
                <a:latin typeface="Calibri" pitchFamily="34" charset="0"/>
                <a:ea typeface="Calibri" pitchFamily="34" charset="-122"/>
                <a:cs typeface="Calibri" pitchFamily="34" charset="-120"/>
              </a:rPr>
              <a:t>[FILL IN: Student 3 - Reg. No.]</a:t>
            </a:r>
            <a:endParaRPr lang="en-US" sz="1900" dirty="0"/>
          </a:p>
        </p:txBody>
      </p:sp>
      <p:sp>
        <p:nvSpPr>
          <p:cNvPr id="7" name="Text 5"/>
          <p:cNvSpPr/>
          <p:nvPr/>
        </p:nvSpPr>
        <p:spPr>
          <a:xfrm>
            <a:off x="6583680" y="4572000"/>
            <a:ext cx="5120640" cy="1188720"/>
          </a:xfrm>
          <a:prstGeom prst="rect">
            <a:avLst/>
          </a:prstGeom>
          <a:noFill/>
          <a:ln/>
        </p:spPr>
        <p:txBody>
          <a:bodyPr wrap="square" lIns="0" tIns="0" rIns="0" bIns="0" rtlCol="0" anchor="t"/>
          <a:lstStyle/>
          <a:p>
            <a:pPr indent="0" marL="0">
              <a:buNone/>
            </a:pPr>
            <a:r>
              <a:rPr lang="en-US" sz="1700" dirty="0">
                <a:solidFill>
                  <a:srgbClr val="E2E8F0"/>
                </a:solidFill>
                <a:latin typeface="Calibri" pitchFamily="34" charset="0"/>
                <a:ea typeface="Calibri" pitchFamily="34" charset="-122"/>
                <a:cs typeface="Calibri" pitchFamily="34" charset="-120"/>
              </a:rPr>
              <a:t>Faculty: Dr S Vigneshwari (54147)</a:t>
            </a:r>
            <a:endParaRPr lang="en-US" sz="1700" dirty="0"/>
          </a:p>
          <a:p>
            <a:pPr indent="0" marL="0">
              <a:buNone/>
            </a:pPr>
            <a:r>
              <a:rPr lang="en-US" sz="1700" dirty="0">
                <a:solidFill>
                  <a:srgbClr val="E2E8F0"/>
                </a:solidFill>
                <a:latin typeface="Calibri" pitchFamily="34" charset="0"/>
                <a:ea typeface="Calibri" pitchFamily="34" charset="-122"/>
                <a:cs typeface="Calibri" pitchFamily="34" charset="-120"/>
              </a:rPr>
              <a:t>Slot: A1+TA1</a:t>
            </a:r>
            <a:endParaRPr lang="en-US" sz="1700" dirty="0"/>
          </a:p>
          <a:p>
            <a:pPr indent="0" marL="0">
              <a:buNone/>
            </a:pPr>
            <a:r>
              <a:rPr lang="en-US" sz="1700" dirty="0">
                <a:solidFill>
                  <a:srgbClr val="E2E8F0"/>
                </a:solidFill>
                <a:latin typeface="Calibri" pitchFamily="34" charset="0"/>
                <a:ea typeface="Calibri" pitchFamily="34" charset="-122"/>
                <a:cs typeface="Calibri" pitchFamily="34" charset="-120"/>
              </a:rPr>
              <a:t>School of Computer Science and Engineering</a:t>
            </a:r>
            <a:endParaRPr lang="en-US" sz="1700" dirty="0"/>
          </a:p>
          <a:p>
            <a:pPr indent="0" marL="0">
              <a:buNone/>
            </a:pPr>
            <a:r>
              <a:rPr lang="en-US" sz="1700" dirty="0">
                <a:solidFill>
                  <a:srgbClr val="E2E8F0"/>
                </a:solidFill>
                <a:latin typeface="Calibri" pitchFamily="34" charset="0"/>
                <a:ea typeface="Calibri" pitchFamily="34" charset="-122"/>
                <a:cs typeface="Calibri" pitchFamily="34" charset="-120"/>
              </a:rPr>
              <a:t>October 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Why single-call LLM recommenders are hard to trust</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8" name="Text 5"/>
          <p:cNvSpPr/>
          <p:nvPr/>
        </p:nvSpPr>
        <p:spPr>
          <a:xfrm>
            <a:off x="548640" y="1188720"/>
            <a:ext cx="11064240" cy="914400"/>
          </a:xfrm>
          <a:prstGeom prst="rect">
            <a:avLst/>
          </a:prstGeom>
          <a:noFill/>
          <a:ln/>
        </p:spPr>
        <p:txBody>
          <a:bodyPr wrap="square" lIns="0" tIns="0" rIns="0" bIns="0" rtlCol="0" anchor="t"/>
          <a:lstStyle/>
          <a:p>
            <a:pPr indent="0" marL="0">
              <a:buNone/>
            </a:pPr>
            <a:r>
              <a:rPr lang="en-US" sz="2210" dirty="0">
                <a:solidFill>
                  <a:srgbClr val="1F2937"/>
                </a:solidFill>
                <a:latin typeface="Calibri" pitchFamily="34" charset="0"/>
                <a:ea typeface="Calibri" pitchFamily="34" charset="-122"/>
                <a:cs typeface="Calibri" pitchFamily="34" charset="-120"/>
              </a:rPr>
              <a:t>Free-text requests mix hard limits, soft wishes and genre in one sentence. Handing that to one model and trusting the answer fails in three ways:</a:t>
            </a:r>
            <a:endParaRPr lang="en-US" sz="2210" dirty="0"/>
          </a:p>
        </p:txBody>
      </p:sp>
      <p:sp>
        <p:nvSpPr>
          <p:cNvPr id="9" name="Shape 6"/>
          <p:cNvSpPr/>
          <p:nvPr/>
        </p:nvSpPr>
        <p:spPr>
          <a:xfrm>
            <a:off x="548640" y="2240280"/>
            <a:ext cx="3566160" cy="2468880"/>
          </a:xfrm>
          <a:prstGeom prst="roundRect">
            <a:avLst>
              <a:gd name="adj" fmla="val 3704"/>
            </a:avLst>
          </a:prstGeom>
          <a:solidFill>
            <a:srgbClr val="FFFFFF"/>
          </a:solidFill>
          <a:ln w="19050">
            <a:solidFill>
              <a:srgbClr val="B91C1C"/>
            </a:solidFill>
            <a:prstDash val="solid"/>
          </a:ln>
        </p:spPr>
      </p:sp>
      <p:sp>
        <p:nvSpPr>
          <p:cNvPr id="10" name="Shape 7"/>
          <p:cNvSpPr/>
          <p:nvPr/>
        </p:nvSpPr>
        <p:spPr>
          <a:xfrm>
            <a:off x="548640" y="2331720"/>
            <a:ext cx="82296" cy="2286000"/>
          </a:xfrm>
          <a:prstGeom prst="rect">
            <a:avLst/>
          </a:prstGeom>
          <a:solidFill>
            <a:srgbClr val="B91C1C"/>
          </a:solidFill>
          <a:ln w="12700">
            <a:solidFill>
              <a:srgbClr val="B91C1C"/>
            </a:solidFill>
            <a:prstDash val="solid"/>
          </a:ln>
        </p:spPr>
      </p:sp>
      <p:sp>
        <p:nvSpPr>
          <p:cNvPr id="11" name="Text 8"/>
          <p:cNvSpPr/>
          <p:nvPr/>
        </p:nvSpPr>
        <p:spPr>
          <a:xfrm>
            <a:off x="777240" y="2331720"/>
            <a:ext cx="3200400" cy="411480"/>
          </a:xfrm>
          <a:prstGeom prst="rect">
            <a:avLst/>
          </a:prstGeom>
          <a:noFill/>
          <a:ln/>
        </p:spPr>
        <p:txBody>
          <a:bodyPr wrap="square" lIns="0" tIns="0" rIns="0" bIns="0" rtlCol="0" anchor="ctr"/>
          <a:lstStyle/>
          <a:p>
            <a:pPr indent="0" marL="0">
              <a:buNone/>
            </a:pPr>
            <a:r>
              <a:rPr lang="en-US" sz="2340" b="1" dirty="0">
                <a:solidFill>
                  <a:srgbClr val="B91C1C"/>
                </a:solidFill>
                <a:latin typeface="Calibri" pitchFamily="34" charset="0"/>
                <a:ea typeface="Calibri" pitchFamily="34" charset="-122"/>
                <a:cs typeface="Calibri" pitchFamily="34" charset="-120"/>
              </a:rPr>
              <a:t>Ungrounded</a:t>
            </a:r>
            <a:endParaRPr lang="en-US" sz="2340" dirty="0"/>
          </a:p>
        </p:txBody>
      </p:sp>
      <p:sp>
        <p:nvSpPr>
          <p:cNvPr id="12" name="Text 9"/>
          <p:cNvSpPr/>
          <p:nvPr/>
        </p:nvSpPr>
        <p:spPr>
          <a:xfrm>
            <a:off x="777240" y="2788920"/>
            <a:ext cx="3154680" cy="1828800"/>
          </a:xfrm>
          <a:prstGeom prst="rect">
            <a:avLst/>
          </a:prstGeom>
          <a:noFill/>
          <a:ln/>
        </p:spPr>
        <p:txBody>
          <a:bodyPr wrap="square" lIns="0" tIns="0" rIns="0" bIns="0" rtlCol="0" anchor="t"/>
          <a:lstStyle/>
          <a:p>
            <a:pPr indent="0" marL="0">
              <a:buNone/>
            </a:pPr>
            <a:r>
              <a:rPr lang="en-US" sz="1950" dirty="0">
                <a:solidFill>
                  <a:srgbClr val="1F2937"/>
                </a:solidFill>
                <a:latin typeface="Calibri" pitchFamily="34" charset="0"/>
                <a:ea typeface="Calibri" pitchFamily="34" charset="-122"/>
                <a:cs typeface="Calibri" pitchFamily="34" charset="-120"/>
              </a:rPr>
              <a:t>No retrieval step over a real catalogue, so item facts can be invented and nothing checks them.</a:t>
            </a:r>
            <a:endParaRPr lang="en-US" sz="1950" dirty="0"/>
          </a:p>
        </p:txBody>
      </p:sp>
      <p:sp>
        <p:nvSpPr>
          <p:cNvPr id="13" name="Shape 10"/>
          <p:cNvSpPr/>
          <p:nvPr/>
        </p:nvSpPr>
        <p:spPr>
          <a:xfrm>
            <a:off x="4297680" y="2240280"/>
            <a:ext cx="3566160" cy="2468880"/>
          </a:xfrm>
          <a:prstGeom prst="roundRect">
            <a:avLst>
              <a:gd name="adj" fmla="val 3704"/>
            </a:avLst>
          </a:prstGeom>
          <a:solidFill>
            <a:srgbClr val="FFFFFF"/>
          </a:solidFill>
          <a:ln w="19050">
            <a:solidFill>
              <a:srgbClr val="B45309"/>
            </a:solidFill>
            <a:prstDash val="solid"/>
          </a:ln>
        </p:spPr>
      </p:sp>
      <p:sp>
        <p:nvSpPr>
          <p:cNvPr id="14" name="Shape 11"/>
          <p:cNvSpPr/>
          <p:nvPr/>
        </p:nvSpPr>
        <p:spPr>
          <a:xfrm>
            <a:off x="4297680" y="2331720"/>
            <a:ext cx="82296" cy="2286000"/>
          </a:xfrm>
          <a:prstGeom prst="rect">
            <a:avLst/>
          </a:prstGeom>
          <a:solidFill>
            <a:srgbClr val="B45309"/>
          </a:solidFill>
          <a:ln w="12700">
            <a:solidFill>
              <a:srgbClr val="B45309"/>
            </a:solidFill>
            <a:prstDash val="solid"/>
          </a:ln>
        </p:spPr>
      </p:sp>
      <p:sp>
        <p:nvSpPr>
          <p:cNvPr id="15" name="Text 12"/>
          <p:cNvSpPr/>
          <p:nvPr/>
        </p:nvSpPr>
        <p:spPr>
          <a:xfrm>
            <a:off x="4526280" y="2331720"/>
            <a:ext cx="3200400" cy="411480"/>
          </a:xfrm>
          <a:prstGeom prst="rect">
            <a:avLst/>
          </a:prstGeom>
          <a:noFill/>
          <a:ln/>
        </p:spPr>
        <p:txBody>
          <a:bodyPr wrap="square" lIns="0" tIns="0" rIns="0" bIns="0" rtlCol="0" anchor="ctr"/>
          <a:lstStyle/>
          <a:p>
            <a:pPr indent="0" marL="0">
              <a:buNone/>
            </a:pPr>
            <a:r>
              <a:rPr lang="en-US" sz="2340" b="1" dirty="0">
                <a:solidFill>
                  <a:srgbClr val="B45309"/>
                </a:solidFill>
                <a:latin typeface="Calibri" pitchFamily="34" charset="0"/>
                <a:ea typeface="Calibri" pitchFamily="34" charset="-122"/>
                <a:cs typeface="Calibri" pitchFamily="34" charset="-120"/>
              </a:rPr>
              <a:t>Unauditable</a:t>
            </a:r>
            <a:endParaRPr lang="en-US" sz="2340" dirty="0"/>
          </a:p>
        </p:txBody>
      </p:sp>
      <p:sp>
        <p:nvSpPr>
          <p:cNvPr id="16" name="Text 13"/>
          <p:cNvSpPr/>
          <p:nvPr/>
        </p:nvSpPr>
        <p:spPr>
          <a:xfrm>
            <a:off x="4526280" y="2788920"/>
            <a:ext cx="3154680" cy="1828800"/>
          </a:xfrm>
          <a:prstGeom prst="rect">
            <a:avLst/>
          </a:prstGeom>
          <a:noFill/>
          <a:ln/>
        </p:spPr>
        <p:txBody>
          <a:bodyPr wrap="square" lIns="0" tIns="0" rIns="0" bIns="0" rtlCol="0" anchor="t"/>
          <a:lstStyle/>
          <a:p>
            <a:pPr indent="0" marL="0">
              <a:buNone/>
            </a:pPr>
            <a:r>
              <a:rPr lang="en-US" sz="1950" dirty="0">
                <a:solidFill>
                  <a:srgbClr val="1F2937"/>
                </a:solidFill>
                <a:latin typeface="Calibri" pitchFamily="34" charset="0"/>
                <a:ea typeface="Calibri" pitchFamily="34" charset="-122"/>
                <a:cs typeface="Calibri" pitchFamily="34" charset="-120"/>
              </a:rPr>
              <a:t>One fluent narrative. A person cannot tell which stated reason is true and which is overstated.</a:t>
            </a:r>
            <a:endParaRPr lang="en-US" sz="1950" dirty="0"/>
          </a:p>
        </p:txBody>
      </p:sp>
      <p:sp>
        <p:nvSpPr>
          <p:cNvPr id="17" name="Shape 14"/>
          <p:cNvSpPr/>
          <p:nvPr/>
        </p:nvSpPr>
        <p:spPr>
          <a:xfrm>
            <a:off x="8046720" y="2240280"/>
            <a:ext cx="3566160" cy="2468880"/>
          </a:xfrm>
          <a:prstGeom prst="roundRect">
            <a:avLst>
              <a:gd name="adj" fmla="val 3704"/>
            </a:avLst>
          </a:prstGeom>
          <a:solidFill>
            <a:srgbClr val="FFFFFF"/>
          </a:solidFill>
          <a:ln w="19050">
            <a:solidFill>
              <a:srgbClr val="2563EB"/>
            </a:solidFill>
            <a:prstDash val="solid"/>
          </a:ln>
        </p:spPr>
      </p:sp>
      <p:sp>
        <p:nvSpPr>
          <p:cNvPr id="18" name="Shape 15"/>
          <p:cNvSpPr/>
          <p:nvPr/>
        </p:nvSpPr>
        <p:spPr>
          <a:xfrm>
            <a:off x="8046720" y="2331720"/>
            <a:ext cx="82296" cy="2286000"/>
          </a:xfrm>
          <a:prstGeom prst="rect">
            <a:avLst/>
          </a:prstGeom>
          <a:solidFill>
            <a:srgbClr val="2563EB"/>
          </a:solidFill>
          <a:ln w="12700">
            <a:solidFill>
              <a:srgbClr val="2563EB"/>
            </a:solidFill>
            <a:prstDash val="solid"/>
          </a:ln>
        </p:spPr>
      </p:sp>
      <p:sp>
        <p:nvSpPr>
          <p:cNvPr id="19" name="Text 16"/>
          <p:cNvSpPr/>
          <p:nvPr/>
        </p:nvSpPr>
        <p:spPr>
          <a:xfrm>
            <a:off x="8275320" y="2331720"/>
            <a:ext cx="3200400" cy="411480"/>
          </a:xfrm>
          <a:prstGeom prst="rect">
            <a:avLst/>
          </a:prstGeom>
          <a:noFill/>
          <a:ln/>
        </p:spPr>
        <p:txBody>
          <a:bodyPr wrap="square" lIns="0" tIns="0" rIns="0" bIns="0" rtlCol="0" anchor="ctr"/>
          <a:lstStyle/>
          <a:p>
            <a:pPr indent="0" marL="0">
              <a:buNone/>
            </a:pPr>
            <a:r>
              <a:rPr lang="en-US" sz="2340" b="1" dirty="0">
                <a:solidFill>
                  <a:srgbClr val="2563EB"/>
                </a:solidFill>
                <a:latin typeface="Calibri" pitchFamily="34" charset="0"/>
                <a:ea typeface="Calibri" pitchFamily="34" charset="-122"/>
                <a:cs typeface="Calibri" pitchFamily="34" charset="-120"/>
              </a:rPr>
              <a:t>Biased</a:t>
            </a:r>
            <a:endParaRPr lang="en-US" sz="2340" dirty="0"/>
          </a:p>
        </p:txBody>
      </p:sp>
      <p:sp>
        <p:nvSpPr>
          <p:cNvPr id="20" name="Text 17"/>
          <p:cNvSpPr/>
          <p:nvPr/>
        </p:nvSpPr>
        <p:spPr>
          <a:xfrm>
            <a:off x="8275320" y="2788920"/>
            <a:ext cx="3154680" cy="1828800"/>
          </a:xfrm>
          <a:prstGeom prst="rect">
            <a:avLst/>
          </a:prstGeom>
          <a:noFill/>
          <a:ln/>
        </p:spPr>
        <p:txBody>
          <a:bodyPr wrap="square" lIns="0" tIns="0" rIns="0" bIns="0" rtlCol="0" anchor="t"/>
          <a:lstStyle/>
          <a:p>
            <a:pPr indent="0" marL="0">
              <a:buNone/>
            </a:pPr>
            <a:r>
              <a:rPr lang="en-US" sz="1950" dirty="0">
                <a:solidFill>
                  <a:srgbClr val="1F2937"/>
                </a:solidFill>
                <a:latin typeface="Calibri" pitchFamily="34" charset="0"/>
                <a:ea typeface="Calibri" pitchFamily="34" charset="-122"/>
                <a:cs typeface="Calibri" pitchFamily="34" charset="-120"/>
              </a:rPr>
              <a:t>LLM rankers show position and popularity bias [9]. LLM judges show verbosity and self-enhancement bias [20], [21].</a:t>
            </a:r>
            <a:endParaRPr lang="en-US" sz="1950" dirty="0"/>
          </a:p>
        </p:txBody>
      </p:sp>
      <p:sp>
        <p:nvSpPr>
          <p:cNvPr id="21" name="Shape 18"/>
          <p:cNvSpPr/>
          <p:nvPr/>
        </p:nvSpPr>
        <p:spPr>
          <a:xfrm>
            <a:off x="548640" y="5029200"/>
            <a:ext cx="11064240" cy="1097280"/>
          </a:xfrm>
          <a:prstGeom prst="roundRect">
            <a:avLst>
              <a:gd name="adj" fmla="val 8333"/>
            </a:avLst>
          </a:prstGeom>
          <a:solidFill>
            <a:srgbClr val="1F3864"/>
          </a:solidFill>
          <a:ln w="12700">
            <a:solidFill>
              <a:srgbClr val="1F3864"/>
            </a:solidFill>
            <a:prstDash val="solid"/>
          </a:ln>
        </p:spPr>
      </p:sp>
      <p:sp>
        <p:nvSpPr>
          <p:cNvPr id="22" name="Text 19"/>
          <p:cNvSpPr/>
          <p:nvPr/>
        </p:nvSpPr>
        <p:spPr>
          <a:xfrm>
            <a:off x="822960" y="5029200"/>
            <a:ext cx="10515600" cy="1097280"/>
          </a:xfrm>
          <a:prstGeom prst="rect">
            <a:avLst/>
          </a:prstGeom>
          <a:noFill/>
          <a:ln/>
        </p:spPr>
        <p:txBody>
          <a:bodyPr wrap="square" lIns="0" tIns="0" rIns="0" bIns="0" rtlCol="0" anchor="ctr"/>
          <a:lstStyle/>
          <a:p>
            <a:pPr indent="0" marL="0">
              <a:buNone/>
            </a:pPr>
            <a:r>
              <a:rPr lang="en-US" sz="2470" b="1" dirty="0">
                <a:solidFill>
                  <a:srgbClr val="FFFFFF"/>
                </a:solidFill>
                <a:latin typeface="Calibri" pitchFamily="34" charset="0"/>
                <a:ea typeface="Calibri" pitchFamily="34" charset="-122"/>
                <a:cs typeface="Calibri" pitchFamily="34" charset="-120"/>
              </a:rPr>
              <a:t>Idea: let models argue for and against each item, then check the argument against facts computed in code.</a:t>
            </a:r>
            <a:endParaRPr lang="en-US" sz="24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Problem statement and objectives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8" name="Text 5"/>
          <p:cNvSpPr/>
          <p:nvPr/>
        </p:nvSpPr>
        <p:spPr>
          <a:xfrm>
            <a:off x="548640" y="1234440"/>
            <a:ext cx="4937760" cy="365760"/>
          </a:xfrm>
          <a:prstGeom prst="rect">
            <a:avLst/>
          </a:prstGeom>
          <a:noFill/>
          <a:ln/>
        </p:spPr>
        <p:txBody>
          <a:bodyPr wrap="square" lIns="0" tIns="0" rIns="0" bIns="0" rtlCol="0" anchor="ctr"/>
          <a:lstStyle/>
          <a:p>
            <a:pPr indent="0" marL="0">
              <a:buNone/>
            </a:pPr>
            <a:r>
              <a:rPr lang="en-US" sz="2340" b="1" dirty="0">
                <a:solidFill>
                  <a:srgbClr val="2563EB"/>
                </a:solidFill>
                <a:latin typeface="Calibri" pitchFamily="34" charset="0"/>
                <a:ea typeface="Calibri" pitchFamily="34" charset="-122"/>
                <a:cs typeface="Calibri" pitchFamily="34" charset="-120"/>
              </a:rPr>
              <a:t>Problem</a:t>
            </a:r>
            <a:endParaRPr lang="en-US" sz="2340" dirty="0"/>
          </a:p>
        </p:txBody>
      </p:sp>
      <p:sp>
        <p:nvSpPr>
          <p:cNvPr id="9" name="Text 6"/>
          <p:cNvSpPr/>
          <p:nvPr/>
        </p:nvSpPr>
        <p:spPr>
          <a:xfrm>
            <a:off x="548640" y="1691640"/>
            <a:ext cx="4937760" cy="4206240"/>
          </a:xfrm>
          <a:prstGeom prst="rect">
            <a:avLst/>
          </a:prstGeom>
          <a:noFill/>
          <a:ln/>
        </p:spPr>
        <p:txBody>
          <a:bodyPr wrap="square" lIns="635" tIns="635" rIns="635" bIns="635" rtlCol="0" anchor="t"/>
          <a:lstStyle/>
          <a:p>
            <a:pPr indent="0" marL="0">
              <a:buNone/>
            </a:pPr>
            <a:r>
              <a:rPr lang="en-US" sz="2210" dirty="0">
                <a:solidFill>
                  <a:srgbClr val="1F2937"/>
                </a:solidFill>
                <a:latin typeface="Calibri" pitchFamily="34" charset="0"/>
                <a:ea typeface="Calibri" pitchFamily="34" charset="-122"/>
                <a:cs typeface="Calibri" pitchFamily="34" charset="-120"/>
              </a:rPr>
              <a:t>Given a natural-language request in one of several domains, build a recommender that extracts hard and soft constraints, retrieves candidates, debates each one adversarially, and returns an explainable ranking, using one architecture for all domains and either a cloud or a fully offline LLM.</a:t>
            </a:r>
            <a:endParaRPr lang="en-US" sz="2210" dirty="0"/>
          </a:p>
        </p:txBody>
      </p:sp>
      <p:sp>
        <p:nvSpPr>
          <p:cNvPr id="10" name="Text 7"/>
          <p:cNvSpPr/>
          <p:nvPr/>
        </p:nvSpPr>
        <p:spPr>
          <a:xfrm>
            <a:off x="5943600" y="1234440"/>
            <a:ext cx="5486400" cy="365760"/>
          </a:xfrm>
          <a:prstGeom prst="rect">
            <a:avLst/>
          </a:prstGeom>
          <a:noFill/>
          <a:ln/>
        </p:spPr>
        <p:txBody>
          <a:bodyPr wrap="square" lIns="0" tIns="0" rIns="0" bIns="0" rtlCol="0" anchor="ctr"/>
          <a:lstStyle/>
          <a:p>
            <a:pPr indent="0" marL="0">
              <a:buNone/>
            </a:pPr>
            <a:r>
              <a:rPr lang="en-US" sz="2340" b="1" dirty="0">
                <a:solidFill>
                  <a:srgbClr val="2563EB"/>
                </a:solidFill>
                <a:latin typeface="Calibri" pitchFamily="34" charset="0"/>
                <a:ea typeface="Calibri" pitchFamily="34" charset="-122"/>
                <a:cs typeface="Calibri" pitchFamily="34" charset="-120"/>
              </a:rPr>
              <a:t>Objectives</a:t>
            </a:r>
            <a:endParaRPr lang="en-US" sz="2340" dirty="0"/>
          </a:p>
        </p:txBody>
      </p:sp>
      <p:sp>
        <p:nvSpPr>
          <p:cNvPr id="11" name="Text 8"/>
          <p:cNvSpPr/>
          <p:nvPr/>
        </p:nvSpPr>
        <p:spPr>
          <a:xfrm>
            <a:off x="5943600" y="1691640"/>
            <a:ext cx="5669280" cy="4480560"/>
          </a:xfrm>
          <a:prstGeom prst="rect">
            <a:avLst/>
          </a:prstGeom>
          <a:noFill/>
          <a:ln/>
        </p:spPr>
        <p:txBody>
          <a:bodyPr wrap="square" lIns="635" tIns="635" rIns="635" bIns="635" rtlCol="0" anchor="t"/>
          <a:lstStyle/>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Understand free-text requests: hard vs. soft, units, negation</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Retrieve candidates from a 7-domain catalogue with hybrid BM25 + TF-IDF</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Run a Supporter / Critic / Judge debate bound to a deterministic audit</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Serve every domain through one adapter-based architecture</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Measure each stage with an ablation and report the limits honestly</a:t>
            </a:r>
            <a:endParaRPr lang="en-US" sz="2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Literature survey: 44 references, six themes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651760"/>
                <a:gridCol w="1097280"/>
                <a:gridCol w="3749040"/>
                <a:gridCol w="3566160"/>
              </a:tblGrid>
              <a:tr h="0">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Theme</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Refs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What they do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What is missing</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LLM-based recommenders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[6]-[10]</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LLM as encoder, scorer or generator</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Single pass, no debate, position bias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Conversational / multi-agent</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[11]-[14]</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Intent and slots by one model or cooperating agents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Cooperative, not adversarial; one domain</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Explainable recommendation</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[15]</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Single-pass justification per item</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No adversarial pros/cons record</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Debate and LLM-as-judge</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[16]-[21]</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Debate lifts factuality; judges are biased</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Never applied to item recommendation</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Constraint-based</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[26]-[28]</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Symbolic hard / soft constraints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No language layer, no LLM</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Domain, incl. India-affiliated</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[29]-[31]</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Course and e-learning deep models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885" dirty="0">
                          <a:solidFill>
                            <a:srgbClr val="1F2937"/>
                          </a:solidFill>
                          <a:latin typeface="Calibri" pitchFamily="34" charset="0"/>
                          <a:ea typeface="Calibri" pitchFamily="34" charset="-122"/>
                          <a:cs typeface="Calibri" pitchFamily="34" charset="-120"/>
                        </a:rPr>
                        <a:t>Single domain, no explanation</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bl>
          </a:graphicData>
        </a:graphic>
      </p:graphicFrame>
      <p:sp>
        <p:nvSpPr>
          <p:cNvPr id="9" name="Text 5"/>
          <p:cNvSpPr/>
          <p:nvPr/>
        </p:nvSpPr>
        <p:spPr>
          <a:xfrm>
            <a:off x="548640" y="5989320"/>
            <a:ext cx="11064240" cy="365760"/>
          </a:xfrm>
          <a:prstGeom prst="rect">
            <a:avLst/>
          </a:prstGeom>
          <a:noFill/>
          <a:ln/>
        </p:spPr>
        <p:txBody>
          <a:bodyPr wrap="square" lIns="0" tIns="0" rIns="0" bIns="0" rtlCol="0" anchor="ctr"/>
          <a:lstStyle/>
          <a:p>
            <a:pPr indent="0" marL="0">
              <a:buNone/>
            </a:pPr>
            <a:r>
              <a:rPr lang="en-US" sz="1430" i="1" dirty="0">
                <a:solidFill>
                  <a:srgbClr val="64748B"/>
                </a:solidFill>
                <a:latin typeface="Calibri" pitchFamily="34" charset="0"/>
                <a:ea typeface="Calibri" pitchFamily="34" charset="-122"/>
                <a:cs typeface="Calibri" pitchFamily="34" charset="-120"/>
              </a:rPr>
              <a:t>Also: classical CF and surveys [1]-[5]; retrieval [22]-[23]; RAG-style recommenders [24]-[25].</a:t>
            </a:r>
            <a:endParaRPr lang="en-US" sz="14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Research gap: nobody combines all five</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1645920"/>
                <a:gridCol w="1645920"/>
                <a:gridCol w="1645920"/>
                <a:gridCol w="1554480"/>
                <a:gridCol w="1554480"/>
              </a:tblGrid>
              <a:tr h="0">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Prior work</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Adversarial debate</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Deterministic audit</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Auditable transcript</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Multi-domain</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85" b="1" dirty="0">
                          <a:solidFill>
                            <a:srgbClr val="FFFFFF"/>
                          </a:solidFill>
                          <a:latin typeface="Calibri" pitchFamily="34" charset="0"/>
                          <a:ea typeface="Calibri" pitchFamily="34" charset="-122"/>
                          <a:cs typeface="Calibri" pitchFamily="34" charset="-120"/>
                        </a:rPr>
                        <a:t>Offline LLM</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LLM rankers [9], [10]</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Multi-agent CRS [13]</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45309"/>
                          </a:solidFill>
                          <a:latin typeface="Calibri" pitchFamily="34" charset="0"/>
                          <a:ea typeface="Calibri" pitchFamily="34" charset="-122"/>
                          <a:cs typeface="Calibri" pitchFamily="34" charset="-120"/>
                        </a:rPr>
                        <a:t>cooperative</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Explainable RecSys [15]</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45309"/>
                          </a:solidFill>
                          <a:latin typeface="Calibri" pitchFamily="34" charset="0"/>
                          <a:ea typeface="Calibri" pitchFamily="34" charset="-122"/>
                          <a:cs typeface="Calibri" pitchFamily="34" charset="-120"/>
                        </a:rPr>
                        <a:t>single pass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Debate / LLM-judge [16]-[21]</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45309"/>
                          </a:solidFill>
                          <a:latin typeface="Calibri" pitchFamily="34" charset="0"/>
                          <a:ea typeface="Calibri" pitchFamily="34" charset="-122"/>
                          <a:cs typeface="Calibri" pitchFamily="34" charset="-120"/>
                        </a:rPr>
                        <a:t>not RecSys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885" b="1" dirty="0">
                          <a:solidFill>
                            <a:srgbClr val="1F2937"/>
                          </a:solidFill>
                          <a:latin typeface="Calibri" pitchFamily="34" charset="0"/>
                          <a:ea typeface="Calibri" pitchFamily="34" charset="-122"/>
                          <a:cs typeface="Calibri" pitchFamily="34" charset="-120"/>
                        </a:rPr>
                        <a:t>Constraint-based [26]-[28]</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B91C1C"/>
                          </a:solidFill>
                          <a:latin typeface="Calibri" pitchFamily="34" charset="0"/>
                          <a:ea typeface="Calibri" pitchFamily="34" charset="-122"/>
                          <a:cs typeface="Calibri" pitchFamily="34" charset="-120"/>
                        </a:rPr>
                        <a:t>no</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85" dirty="0">
                          <a:solidFill>
                            <a:srgbClr val="64748B"/>
                          </a:solidFill>
                          <a:latin typeface="Calibri" pitchFamily="34" charset="0"/>
                          <a:ea typeface="Calibri" pitchFamily="34" charset="-122"/>
                          <a:cs typeface="Calibri" pitchFamily="34" charset="-120"/>
                        </a:rPr>
                        <a:t>n/a</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885" b="1" dirty="0">
                          <a:solidFill>
                            <a:srgbClr val="1F3864"/>
                          </a:solidFill>
                          <a:latin typeface="Calibri" pitchFamily="34" charset="0"/>
                          <a:ea typeface="Calibri" pitchFamily="34" charset="-122"/>
                          <a:cs typeface="Calibri" pitchFamily="34" charset="-120"/>
                        </a:rPr>
                        <a:t>DebateRec (this work)</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85" b="1" dirty="0">
                          <a:solidFill>
                            <a:srgbClr val="15803D"/>
                          </a:solidFill>
                          <a:latin typeface="Calibri" pitchFamily="34" charset="0"/>
                          <a:ea typeface="Calibri" pitchFamily="34" charset="-122"/>
                          <a:cs typeface="Calibri" pitchFamily="34" charset="-120"/>
                        </a:rPr>
                        <a:t>yes</a:t>
                      </a:r>
                      <a:endParaRPr lang="en-US" sz="188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bl>
          </a:graphicData>
        </a:graphic>
      </p:graphicFrame>
      <p:sp>
        <p:nvSpPr>
          <p:cNvPr id="9" name="Text 5"/>
          <p:cNvSpPr/>
          <p:nvPr/>
        </p:nvSpPr>
        <p:spPr>
          <a:xfrm>
            <a:off x="548640" y="5486400"/>
            <a:ext cx="11064240" cy="731520"/>
          </a:xfrm>
          <a:prstGeom prst="rect">
            <a:avLst/>
          </a:prstGeom>
          <a:noFill/>
          <a:ln/>
        </p:spPr>
        <p:txBody>
          <a:bodyPr wrap="square" lIns="0" tIns="0" rIns="0" bIns="0" rtlCol="0" anchor="ctr"/>
          <a:lstStyle/>
          <a:p>
            <a:pPr indent="0" marL="0">
              <a:buNone/>
            </a:pPr>
            <a:r>
              <a:rPr lang="en-US" sz="2210" b="1" dirty="0">
                <a:solidFill>
                  <a:srgbClr val="1F3864"/>
                </a:solidFill>
                <a:latin typeface="Calibri" pitchFamily="34" charset="0"/>
                <a:ea typeface="Calibri" pitchFamily="34" charset="-122"/>
                <a:cs typeface="Calibri" pitchFamily="34" charset="-120"/>
              </a:rPr>
              <a:t>Gap: debate-based explainable auditing, generalised across domains, deployable offline.</a:t>
            </a:r>
            <a:endParaRPr lang="en-US" sz="22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548640" y="1188720"/>
            <a:ext cx="4023360" cy="548640"/>
          </a:xfrm>
          <a:prstGeom prst="roundRect">
            <a:avLst>
              <a:gd name="adj" fmla="val 46667"/>
            </a:avLst>
          </a:prstGeom>
          <a:solidFill>
            <a:srgbClr val="1F3864"/>
          </a:solidFill>
          <a:ln w="12700">
            <a:solidFill>
              <a:srgbClr val="1F3864"/>
            </a:solidFill>
            <a:prstDash val="solid"/>
          </a:ln>
        </p:spPr>
      </p:sp>
      <p:sp>
        <p:nvSpPr>
          <p:cNvPr id="9" name="Text 6"/>
          <p:cNvSpPr/>
          <p:nvPr/>
        </p:nvSpPr>
        <p:spPr>
          <a:xfrm>
            <a:off x="548640" y="1188720"/>
            <a:ext cx="4023360" cy="548640"/>
          </a:xfrm>
          <a:prstGeom prst="rect">
            <a:avLst/>
          </a:prstGeom>
          <a:noFill/>
          <a:ln/>
        </p:spPr>
        <p:txBody>
          <a:bodyPr wrap="square" lIns="0" tIns="0" rIns="0" bIns="0" rtlCol="0" anchor="ctr"/>
          <a:lstStyle/>
          <a:p>
            <a:pPr algn="ctr" indent="0" marL="0">
              <a:buNone/>
            </a:pPr>
            <a:r>
              <a:rPr lang="en-US" sz="1690" b="1" dirty="0">
                <a:solidFill>
                  <a:srgbClr val="FFFFFF"/>
                </a:solidFill>
                <a:latin typeface="Calibri" pitchFamily="34" charset="0"/>
                <a:ea typeface="Calibri" pitchFamily="34" charset="-122"/>
                <a:cs typeface="Calibri" pitchFamily="34" charset="-120"/>
              </a:rPr>
              <a:t>User: free-text request</a:t>
            </a:r>
            <a:endParaRPr lang="en-US" sz="1690" dirty="0"/>
          </a:p>
        </p:txBody>
      </p:sp>
      <p:sp>
        <p:nvSpPr>
          <p:cNvPr id="10" name="Shape 7"/>
          <p:cNvSpPr/>
          <p:nvPr/>
        </p:nvSpPr>
        <p:spPr>
          <a:xfrm>
            <a:off x="548640" y="2148840"/>
            <a:ext cx="1920240" cy="1783080"/>
          </a:xfrm>
          <a:prstGeom prst="roundRect">
            <a:avLst>
              <a:gd name="adj" fmla="val 5128"/>
            </a:avLst>
          </a:prstGeom>
          <a:solidFill>
            <a:srgbClr val="FFFFFF"/>
          </a:solidFill>
          <a:ln w="25400">
            <a:solidFill>
              <a:srgbClr val="2563EB"/>
            </a:solidFill>
            <a:prstDash val="solid"/>
          </a:ln>
        </p:spPr>
      </p:sp>
      <p:sp>
        <p:nvSpPr>
          <p:cNvPr id="11" name="Text 8"/>
          <p:cNvSpPr/>
          <p:nvPr/>
        </p:nvSpPr>
        <p:spPr>
          <a:xfrm>
            <a:off x="640080" y="2221992"/>
            <a:ext cx="1737360" cy="365760"/>
          </a:xfrm>
          <a:prstGeom prst="rect">
            <a:avLst/>
          </a:prstGeom>
          <a:noFill/>
          <a:ln/>
        </p:spPr>
        <p:txBody>
          <a:bodyPr wrap="square" lIns="0" tIns="0" rIns="0" bIns="0" rtlCol="0" anchor="ctr"/>
          <a:lstStyle/>
          <a:p>
            <a:pPr indent="0" marL="0">
              <a:buNone/>
            </a:pPr>
            <a:r>
              <a:rPr lang="en-US" sz="1950" b="1" dirty="0">
                <a:solidFill>
                  <a:srgbClr val="2563EB"/>
                </a:solidFill>
                <a:latin typeface="Calibri" pitchFamily="34" charset="0"/>
                <a:ea typeface="Calibri" pitchFamily="34" charset="-122"/>
                <a:cs typeface="Calibri" pitchFamily="34" charset="-120"/>
              </a:rPr>
              <a:t>1  Understand</a:t>
            </a:r>
            <a:endParaRPr lang="en-US" sz="1950" dirty="0"/>
          </a:p>
        </p:txBody>
      </p:sp>
      <p:sp>
        <p:nvSpPr>
          <p:cNvPr id="12" name="Text 9"/>
          <p:cNvSpPr/>
          <p:nvPr/>
        </p:nvSpPr>
        <p:spPr>
          <a:xfrm>
            <a:off x="640080" y="2651760"/>
            <a:ext cx="1737360" cy="1234440"/>
          </a:xfrm>
          <a:prstGeom prst="rect">
            <a:avLst/>
          </a:prstGeom>
          <a:noFill/>
          <a:ln/>
        </p:spPr>
        <p:txBody>
          <a:bodyPr wrap="square" lIns="0" tIns="0" rIns="0" bIns="0" rtlCol="0" anchor="t"/>
          <a:lstStyle/>
          <a:p>
            <a:pPr indent="0" marL="0">
              <a:buNone/>
            </a:pPr>
            <a:r>
              <a:rPr lang="en-US" sz="1625" dirty="0">
                <a:solidFill>
                  <a:srgbClr val="1F2937"/>
                </a:solidFill>
                <a:latin typeface="Calibri" pitchFamily="34" charset="0"/>
                <a:ea typeface="Calibri" pitchFamily="34" charset="-122"/>
                <a:cs typeface="Calibri" pitchFamily="34" charset="-120"/>
              </a:rPr>
              <a:t>Domain router, rule parser, LLM extractor</a:t>
            </a:r>
            <a:endParaRPr lang="en-US" sz="1625" dirty="0"/>
          </a:p>
        </p:txBody>
      </p:sp>
      <p:sp>
        <p:nvSpPr>
          <p:cNvPr id="13" name="Shape 10"/>
          <p:cNvSpPr/>
          <p:nvPr/>
        </p:nvSpPr>
        <p:spPr>
          <a:xfrm>
            <a:off x="2496312" y="3040380"/>
            <a:ext cx="310896" cy="0"/>
          </a:xfrm>
          <a:prstGeom prst="line">
            <a:avLst/>
          </a:prstGeom>
          <a:noFill/>
          <a:ln w="25400">
            <a:solidFill>
              <a:srgbClr val="1F3864"/>
            </a:solidFill>
            <a:prstDash val="solid"/>
            <a:tailEnd type="triangle"/>
          </a:ln>
        </p:spPr>
      </p:sp>
      <p:sp>
        <p:nvSpPr>
          <p:cNvPr id="14" name="Shape 11"/>
          <p:cNvSpPr/>
          <p:nvPr/>
        </p:nvSpPr>
        <p:spPr>
          <a:xfrm>
            <a:off x="2834640" y="2148840"/>
            <a:ext cx="1920240" cy="1783080"/>
          </a:xfrm>
          <a:prstGeom prst="roundRect">
            <a:avLst>
              <a:gd name="adj" fmla="val 5128"/>
            </a:avLst>
          </a:prstGeom>
          <a:solidFill>
            <a:srgbClr val="FFFFFF"/>
          </a:solidFill>
          <a:ln w="25400">
            <a:solidFill>
              <a:srgbClr val="0891B2"/>
            </a:solidFill>
            <a:prstDash val="solid"/>
          </a:ln>
        </p:spPr>
      </p:sp>
      <p:sp>
        <p:nvSpPr>
          <p:cNvPr id="15" name="Text 12"/>
          <p:cNvSpPr/>
          <p:nvPr/>
        </p:nvSpPr>
        <p:spPr>
          <a:xfrm>
            <a:off x="2926080" y="2221992"/>
            <a:ext cx="1737360" cy="365760"/>
          </a:xfrm>
          <a:prstGeom prst="rect">
            <a:avLst/>
          </a:prstGeom>
          <a:noFill/>
          <a:ln/>
        </p:spPr>
        <p:txBody>
          <a:bodyPr wrap="square" lIns="0" tIns="0" rIns="0" bIns="0" rtlCol="0" anchor="ctr"/>
          <a:lstStyle/>
          <a:p>
            <a:pPr indent="0" marL="0">
              <a:buNone/>
            </a:pPr>
            <a:r>
              <a:rPr lang="en-US" sz="1950" b="1" dirty="0">
                <a:solidFill>
                  <a:srgbClr val="0891B2"/>
                </a:solidFill>
                <a:latin typeface="Calibri" pitchFamily="34" charset="0"/>
                <a:ea typeface="Calibri" pitchFamily="34" charset="-122"/>
                <a:cs typeface="Calibri" pitchFamily="34" charset="-120"/>
              </a:rPr>
              <a:t>2  Retrieve</a:t>
            </a:r>
            <a:endParaRPr lang="en-US" sz="1950" dirty="0"/>
          </a:p>
        </p:txBody>
      </p:sp>
      <p:sp>
        <p:nvSpPr>
          <p:cNvPr id="16" name="Text 13"/>
          <p:cNvSpPr/>
          <p:nvPr/>
        </p:nvSpPr>
        <p:spPr>
          <a:xfrm>
            <a:off x="2926080" y="2651760"/>
            <a:ext cx="1737360" cy="1234440"/>
          </a:xfrm>
          <a:prstGeom prst="rect">
            <a:avLst/>
          </a:prstGeom>
          <a:noFill/>
          <a:ln/>
        </p:spPr>
        <p:txBody>
          <a:bodyPr wrap="square" lIns="0" tIns="0" rIns="0" bIns="0" rtlCol="0" anchor="t"/>
          <a:lstStyle/>
          <a:p>
            <a:pPr indent="0" marL="0">
              <a:buNone/>
            </a:pPr>
            <a:r>
              <a:rPr lang="en-US" sz="1625" dirty="0">
                <a:solidFill>
                  <a:srgbClr val="1F2937"/>
                </a:solidFill>
                <a:latin typeface="Calibri" pitchFamily="34" charset="0"/>
                <a:ea typeface="Calibri" pitchFamily="34" charset="-122"/>
                <a:cs typeface="Calibri" pitchFamily="34" charset="-120"/>
              </a:rPr>
              <a:t>BM25 + TF-IDF fusion, filter, diversify</a:t>
            </a:r>
            <a:endParaRPr lang="en-US" sz="1625" dirty="0"/>
          </a:p>
        </p:txBody>
      </p:sp>
      <p:sp>
        <p:nvSpPr>
          <p:cNvPr id="17" name="Shape 14"/>
          <p:cNvSpPr/>
          <p:nvPr/>
        </p:nvSpPr>
        <p:spPr>
          <a:xfrm>
            <a:off x="4782312" y="3040380"/>
            <a:ext cx="310896" cy="0"/>
          </a:xfrm>
          <a:prstGeom prst="line">
            <a:avLst/>
          </a:prstGeom>
          <a:noFill/>
          <a:ln w="25400">
            <a:solidFill>
              <a:srgbClr val="1F3864"/>
            </a:solidFill>
            <a:prstDash val="solid"/>
            <a:tailEnd type="triangle"/>
          </a:ln>
        </p:spPr>
      </p:sp>
      <p:sp>
        <p:nvSpPr>
          <p:cNvPr id="18" name="Shape 15"/>
          <p:cNvSpPr/>
          <p:nvPr/>
        </p:nvSpPr>
        <p:spPr>
          <a:xfrm>
            <a:off x="5120640" y="2148840"/>
            <a:ext cx="1920240" cy="1783080"/>
          </a:xfrm>
          <a:prstGeom prst="roundRect">
            <a:avLst>
              <a:gd name="adj" fmla="val 5128"/>
            </a:avLst>
          </a:prstGeom>
          <a:solidFill>
            <a:srgbClr val="FFFFFF"/>
          </a:solidFill>
          <a:ln w="25400">
            <a:solidFill>
              <a:srgbClr val="B45309"/>
            </a:solidFill>
            <a:prstDash val="solid"/>
          </a:ln>
        </p:spPr>
      </p:sp>
      <p:sp>
        <p:nvSpPr>
          <p:cNvPr id="19" name="Text 16"/>
          <p:cNvSpPr/>
          <p:nvPr/>
        </p:nvSpPr>
        <p:spPr>
          <a:xfrm>
            <a:off x="5212080" y="2221992"/>
            <a:ext cx="1737360" cy="365760"/>
          </a:xfrm>
          <a:prstGeom prst="rect">
            <a:avLst/>
          </a:prstGeom>
          <a:noFill/>
          <a:ln/>
        </p:spPr>
        <p:txBody>
          <a:bodyPr wrap="square" lIns="0" tIns="0" rIns="0" bIns="0" rtlCol="0" anchor="ctr"/>
          <a:lstStyle/>
          <a:p>
            <a:pPr indent="0" marL="0">
              <a:buNone/>
            </a:pPr>
            <a:r>
              <a:rPr lang="en-US" sz="1950" b="1" dirty="0">
                <a:solidFill>
                  <a:srgbClr val="B45309"/>
                </a:solidFill>
                <a:latin typeface="Calibri" pitchFamily="34" charset="0"/>
                <a:ea typeface="Calibri" pitchFamily="34" charset="-122"/>
                <a:cs typeface="Calibri" pitchFamily="34" charset="-120"/>
              </a:rPr>
              <a:t>3  Audit</a:t>
            </a:r>
            <a:endParaRPr lang="en-US" sz="1950" dirty="0"/>
          </a:p>
        </p:txBody>
      </p:sp>
      <p:sp>
        <p:nvSpPr>
          <p:cNvPr id="20" name="Text 17"/>
          <p:cNvSpPr/>
          <p:nvPr/>
        </p:nvSpPr>
        <p:spPr>
          <a:xfrm>
            <a:off x="5212080" y="2651760"/>
            <a:ext cx="1737360" cy="1234440"/>
          </a:xfrm>
          <a:prstGeom prst="rect">
            <a:avLst/>
          </a:prstGeom>
          <a:noFill/>
          <a:ln/>
        </p:spPr>
        <p:txBody>
          <a:bodyPr wrap="square" lIns="0" tIns="0" rIns="0" bIns="0" rtlCol="0" anchor="t"/>
          <a:lstStyle/>
          <a:p>
            <a:pPr indent="0" marL="0">
              <a:buNone/>
            </a:pPr>
            <a:r>
              <a:rPr lang="en-US" sz="1625" dirty="0">
                <a:solidFill>
                  <a:srgbClr val="1F2937"/>
                </a:solidFill>
                <a:latin typeface="Calibri" pitchFamily="34" charset="0"/>
                <a:ea typeface="Calibri" pitchFamily="34" charset="-122"/>
                <a:cs typeface="Calibri" pitchFamily="34" charset="-120"/>
              </a:rPr>
              <a:t>PASS / FAIL / UNKNOWN per preference, in code</a:t>
            </a:r>
            <a:endParaRPr lang="en-US" sz="1625" dirty="0"/>
          </a:p>
        </p:txBody>
      </p:sp>
      <p:sp>
        <p:nvSpPr>
          <p:cNvPr id="21" name="Shape 18"/>
          <p:cNvSpPr/>
          <p:nvPr/>
        </p:nvSpPr>
        <p:spPr>
          <a:xfrm>
            <a:off x="7068312" y="3040380"/>
            <a:ext cx="310896" cy="0"/>
          </a:xfrm>
          <a:prstGeom prst="line">
            <a:avLst/>
          </a:prstGeom>
          <a:noFill/>
          <a:ln w="25400">
            <a:solidFill>
              <a:srgbClr val="1F3864"/>
            </a:solidFill>
            <a:prstDash val="solid"/>
            <a:tailEnd type="triangle"/>
          </a:ln>
        </p:spPr>
      </p:sp>
      <p:sp>
        <p:nvSpPr>
          <p:cNvPr id="22" name="Shape 19"/>
          <p:cNvSpPr/>
          <p:nvPr/>
        </p:nvSpPr>
        <p:spPr>
          <a:xfrm>
            <a:off x="7406640" y="2148840"/>
            <a:ext cx="1920240" cy="1783080"/>
          </a:xfrm>
          <a:prstGeom prst="roundRect">
            <a:avLst>
              <a:gd name="adj" fmla="val 5128"/>
            </a:avLst>
          </a:prstGeom>
          <a:solidFill>
            <a:srgbClr val="FFFFFF"/>
          </a:solidFill>
          <a:ln w="25400">
            <a:solidFill>
              <a:srgbClr val="B91C1C"/>
            </a:solidFill>
            <a:prstDash val="solid"/>
          </a:ln>
        </p:spPr>
      </p:sp>
      <p:sp>
        <p:nvSpPr>
          <p:cNvPr id="23" name="Text 20"/>
          <p:cNvSpPr/>
          <p:nvPr/>
        </p:nvSpPr>
        <p:spPr>
          <a:xfrm>
            <a:off x="7498080" y="2221992"/>
            <a:ext cx="1737360" cy="365760"/>
          </a:xfrm>
          <a:prstGeom prst="rect">
            <a:avLst/>
          </a:prstGeom>
          <a:noFill/>
          <a:ln/>
        </p:spPr>
        <p:txBody>
          <a:bodyPr wrap="square" lIns="0" tIns="0" rIns="0" bIns="0" rtlCol="0" anchor="ctr"/>
          <a:lstStyle/>
          <a:p>
            <a:pPr indent="0" marL="0">
              <a:buNone/>
            </a:pPr>
            <a:r>
              <a:rPr lang="en-US" sz="1950" b="1" dirty="0">
                <a:solidFill>
                  <a:srgbClr val="B91C1C"/>
                </a:solidFill>
                <a:latin typeface="Calibri" pitchFamily="34" charset="0"/>
                <a:ea typeface="Calibri" pitchFamily="34" charset="-122"/>
                <a:cs typeface="Calibri" pitchFamily="34" charset="-120"/>
              </a:rPr>
              <a:t>4  Debate</a:t>
            </a:r>
            <a:endParaRPr lang="en-US" sz="1950" dirty="0"/>
          </a:p>
        </p:txBody>
      </p:sp>
      <p:sp>
        <p:nvSpPr>
          <p:cNvPr id="24" name="Text 21"/>
          <p:cNvSpPr/>
          <p:nvPr/>
        </p:nvSpPr>
        <p:spPr>
          <a:xfrm>
            <a:off x="7498080" y="2651760"/>
            <a:ext cx="1737360" cy="1234440"/>
          </a:xfrm>
          <a:prstGeom prst="rect">
            <a:avLst/>
          </a:prstGeom>
          <a:noFill/>
          <a:ln/>
        </p:spPr>
        <p:txBody>
          <a:bodyPr wrap="square" lIns="0" tIns="0" rIns="0" bIns="0" rtlCol="0" anchor="t"/>
          <a:lstStyle/>
          <a:p>
            <a:pPr indent="0" marL="0">
              <a:buNone/>
            </a:pPr>
            <a:r>
              <a:rPr lang="en-US" sz="1625" dirty="0">
                <a:solidFill>
                  <a:srgbClr val="1F2937"/>
                </a:solidFill>
                <a:latin typeface="Calibri" pitchFamily="34" charset="0"/>
                <a:ea typeface="Calibri" pitchFamily="34" charset="-122"/>
                <a:cs typeface="Calibri" pitchFamily="34" charset="-120"/>
              </a:rPr>
              <a:t>Supporter, Critic, optional rebuttal, Judge</a:t>
            </a:r>
            <a:endParaRPr lang="en-US" sz="1625" dirty="0"/>
          </a:p>
        </p:txBody>
      </p:sp>
      <p:sp>
        <p:nvSpPr>
          <p:cNvPr id="25" name="Shape 22"/>
          <p:cNvSpPr/>
          <p:nvPr/>
        </p:nvSpPr>
        <p:spPr>
          <a:xfrm>
            <a:off x="9354312" y="3040380"/>
            <a:ext cx="310896" cy="0"/>
          </a:xfrm>
          <a:prstGeom prst="line">
            <a:avLst/>
          </a:prstGeom>
          <a:noFill/>
          <a:ln w="25400">
            <a:solidFill>
              <a:srgbClr val="1F3864"/>
            </a:solidFill>
            <a:prstDash val="solid"/>
            <a:tailEnd type="triangle"/>
          </a:ln>
        </p:spPr>
      </p:sp>
      <p:sp>
        <p:nvSpPr>
          <p:cNvPr id="26" name="Shape 23"/>
          <p:cNvSpPr/>
          <p:nvPr/>
        </p:nvSpPr>
        <p:spPr>
          <a:xfrm>
            <a:off x="9692640" y="2148840"/>
            <a:ext cx="1920240" cy="1783080"/>
          </a:xfrm>
          <a:prstGeom prst="roundRect">
            <a:avLst>
              <a:gd name="adj" fmla="val 5128"/>
            </a:avLst>
          </a:prstGeom>
          <a:solidFill>
            <a:srgbClr val="FFFFFF"/>
          </a:solidFill>
          <a:ln w="25400">
            <a:solidFill>
              <a:srgbClr val="15803D"/>
            </a:solidFill>
            <a:prstDash val="solid"/>
          </a:ln>
        </p:spPr>
      </p:sp>
      <p:sp>
        <p:nvSpPr>
          <p:cNvPr id="27" name="Text 24"/>
          <p:cNvSpPr/>
          <p:nvPr/>
        </p:nvSpPr>
        <p:spPr>
          <a:xfrm>
            <a:off x="9784080" y="2221992"/>
            <a:ext cx="1737360" cy="365760"/>
          </a:xfrm>
          <a:prstGeom prst="rect">
            <a:avLst/>
          </a:prstGeom>
          <a:noFill/>
          <a:ln/>
        </p:spPr>
        <p:txBody>
          <a:bodyPr wrap="square" lIns="0" tIns="0" rIns="0" bIns="0" rtlCol="0" anchor="ctr"/>
          <a:lstStyle/>
          <a:p>
            <a:pPr indent="0" marL="0">
              <a:buNone/>
            </a:pPr>
            <a:r>
              <a:rPr lang="en-US" sz="1950" b="1" dirty="0">
                <a:solidFill>
                  <a:srgbClr val="15803D"/>
                </a:solidFill>
                <a:latin typeface="Calibri" pitchFamily="34" charset="0"/>
                <a:ea typeface="Calibri" pitchFamily="34" charset="-122"/>
                <a:cs typeface="Calibri" pitchFamily="34" charset="-120"/>
              </a:rPr>
              <a:t>5  Explain</a:t>
            </a:r>
            <a:endParaRPr lang="en-US" sz="1950" dirty="0"/>
          </a:p>
        </p:txBody>
      </p:sp>
      <p:sp>
        <p:nvSpPr>
          <p:cNvPr id="28" name="Text 25"/>
          <p:cNvSpPr/>
          <p:nvPr/>
        </p:nvSpPr>
        <p:spPr>
          <a:xfrm>
            <a:off x="9784080" y="2651760"/>
            <a:ext cx="1737360" cy="1234440"/>
          </a:xfrm>
          <a:prstGeom prst="rect">
            <a:avLst/>
          </a:prstGeom>
          <a:noFill/>
          <a:ln/>
        </p:spPr>
        <p:txBody>
          <a:bodyPr wrap="square" lIns="0" tIns="0" rIns="0" bIns="0" rtlCol="0" anchor="t"/>
          <a:lstStyle/>
          <a:p>
            <a:pPr indent="0" marL="0">
              <a:buNone/>
            </a:pPr>
            <a:r>
              <a:rPr lang="en-US" sz="1625" dirty="0">
                <a:solidFill>
                  <a:srgbClr val="1F2937"/>
                </a:solidFill>
                <a:latin typeface="Calibri" pitchFamily="34" charset="0"/>
                <a:ea typeface="Calibri" pitchFamily="34" charset="-122"/>
                <a:cs typeface="Calibri" pitchFamily="34" charset="-120"/>
              </a:rPr>
              <a:t>Ranked list: pros, cons, trade-offs, transcript</a:t>
            </a:r>
            <a:endParaRPr lang="en-US" sz="1625" dirty="0"/>
          </a:p>
        </p:txBody>
      </p:sp>
      <p:sp>
        <p:nvSpPr>
          <p:cNvPr id="29" name="Shape 26"/>
          <p:cNvSpPr/>
          <p:nvPr/>
        </p:nvSpPr>
        <p:spPr>
          <a:xfrm>
            <a:off x="1508760" y="1737360"/>
            <a:ext cx="0" cy="393192"/>
          </a:xfrm>
          <a:prstGeom prst="line">
            <a:avLst/>
          </a:prstGeom>
          <a:noFill/>
          <a:ln w="25400">
            <a:solidFill>
              <a:srgbClr val="1F3864"/>
            </a:solidFill>
            <a:prstDash val="solid"/>
            <a:tailEnd type="triangle"/>
          </a:ln>
        </p:spPr>
      </p:sp>
      <p:sp>
        <p:nvSpPr>
          <p:cNvPr id="30" name="Text 27"/>
          <p:cNvSpPr/>
          <p:nvPr/>
        </p:nvSpPr>
        <p:spPr>
          <a:xfrm>
            <a:off x="548640" y="4114800"/>
            <a:ext cx="3657600" cy="320040"/>
          </a:xfrm>
          <a:prstGeom prst="rect">
            <a:avLst/>
          </a:prstGeom>
          <a:noFill/>
          <a:ln/>
        </p:spPr>
        <p:txBody>
          <a:bodyPr wrap="square" lIns="0" tIns="0" rIns="0" bIns="0" rtlCol="0" anchor="ctr"/>
          <a:lstStyle/>
          <a:p>
            <a:pPr indent="0" marL="0">
              <a:buNone/>
            </a:pPr>
            <a:r>
              <a:rPr lang="en-US" sz="1820" b="1" dirty="0">
                <a:solidFill>
                  <a:srgbClr val="B91C1C"/>
                </a:solidFill>
                <a:latin typeface="Calibri" pitchFamily="34" charset="0"/>
                <a:ea typeface="Calibri" pitchFamily="34" charset="-122"/>
                <a:cs typeface="Calibri" pitchFamily="34" charset="-120"/>
              </a:rPr>
              <a:t>Debate engine detail</a:t>
            </a:r>
            <a:endParaRPr lang="en-US" sz="1820" dirty="0"/>
          </a:p>
        </p:txBody>
      </p:sp>
      <p:sp>
        <p:nvSpPr>
          <p:cNvPr id="31" name="Shape 28"/>
          <p:cNvSpPr/>
          <p:nvPr/>
        </p:nvSpPr>
        <p:spPr>
          <a:xfrm>
            <a:off x="548640" y="4480560"/>
            <a:ext cx="2423160" cy="868680"/>
          </a:xfrm>
          <a:prstGeom prst="roundRect">
            <a:avLst>
              <a:gd name="adj" fmla="val 10526"/>
            </a:avLst>
          </a:prstGeom>
          <a:solidFill>
            <a:srgbClr val="ECFDF5"/>
          </a:solidFill>
          <a:ln w="19050">
            <a:solidFill>
              <a:srgbClr val="15803D"/>
            </a:solidFill>
            <a:prstDash val="solid"/>
          </a:ln>
        </p:spPr>
      </p:sp>
      <p:sp>
        <p:nvSpPr>
          <p:cNvPr id="32" name="Text 29"/>
          <p:cNvSpPr/>
          <p:nvPr/>
        </p:nvSpPr>
        <p:spPr>
          <a:xfrm>
            <a:off x="548640" y="4480560"/>
            <a:ext cx="2423160" cy="868680"/>
          </a:xfrm>
          <a:prstGeom prst="rect">
            <a:avLst/>
          </a:prstGeom>
          <a:noFill/>
          <a:ln/>
        </p:spPr>
        <p:txBody>
          <a:bodyPr wrap="square" lIns="0" tIns="0" rIns="0" bIns="0" rtlCol="0" anchor="ctr"/>
          <a:lstStyle/>
          <a:p>
            <a:pPr algn="ctr" indent="0" marL="0">
              <a:buNone/>
            </a:pPr>
            <a:r>
              <a:rPr lang="en-US" sz="1950" b="1" dirty="0">
                <a:solidFill>
                  <a:srgbClr val="15803D"/>
                </a:solidFill>
                <a:latin typeface="Calibri" pitchFamily="34" charset="0"/>
                <a:ea typeface="Calibri" pitchFamily="34" charset="-122"/>
                <a:cs typeface="Calibri" pitchFamily="34" charset="-120"/>
              </a:rPr>
              <a:t>Supporter</a:t>
            </a:r>
            <a:endParaRPr lang="en-US" sz="1950" dirty="0"/>
          </a:p>
          <a:p>
            <a:pPr algn="ctr" indent="0" marL="0">
              <a:buNone/>
            </a:pPr>
            <a:r>
              <a:rPr lang="en-US" sz="1560" dirty="0">
                <a:solidFill>
                  <a:srgbClr val="1F2937"/>
                </a:solidFill>
                <a:latin typeface="Calibri" pitchFamily="34" charset="0"/>
                <a:ea typeface="Calibri" pitchFamily="34" charset="-122"/>
                <a:cs typeface="Calibri" pitchFamily="34" charset="-120"/>
              </a:rPr>
              <a:t>argues FOR</a:t>
            </a:r>
            <a:endParaRPr lang="en-US" sz="1950" dirty="0"/>
          </a:p>
        </p:txBody>
      </p:sp>
      <p:sp>
        <p:nvSpPr>
          <p:cNvPr id="33" name="Shape 30"/>
          <p:cNvSpPr/>
          <p:nvPr/>
        </p:nvSpPr>
        <p:spPr>
          <a:xfrm>
            <a:off x="2990088" y="4910328"/>
            <a:ext cx="329184" cy="0"/>
          </a:xfrm>
          <a:prstGeom prst="line">
            <a:avLst/>
          </a:prstGeom>
          <a:noFill/>
          <a:ln w="19050">
            <a:solidFill>
              <a:srgbClr val="888888"/>
            </a:solidFill>
            <a:prstDash val="solid"/>
            <a:tailEnd type="triangle"/>
          </a:ln>
        </p:spPr>
      </p:sp>
      <p:sp>
        <p:nvSpPr>
          <p:cNvPr id="34" name="Shape 31"/>
          <p:cNvSpPr/>
          <p:nvPr/>
        </p:nvSpPr>
        <p:spPr>
          <a:xfrm>
            <a:off x="3337560" y="4480560"/>
            <a:ext cx="2423160" cy="868680"/>
          </a:xfrm>
          <a:prstGeom prst="roundRect">
            <a:avLst>
              <a:gd name="adj" fmla="val 10526"/>
            </a:avLst>
          </a:prstGeom>
          <a:solidFill>
            <a:srgbClr val="FEF2F2"/>
          </a:solidFill>
          <a:ln w="19050">
            <a:solidFill>
              <a:srgbClr val="B91C1C"/>
            </a:solidFill>
            <a:prstDash val="solid"/>
          </a:ln>
        </p:spPr>
      </p:sp>
      <p:sp>
        <p:nvSpPr>
          <p:cNvPr id="35" name="Text 32"/>
          <p:cNvSpPr/>
          <p:nvPr/>
        </p:nvSpPr>
        <p:spPr>
          <a:xfrm>
            <a:off x="3337560" y="4480560"/>
            <a:ext cx="2423160" cy="868680"/>
          </a:xfrm>
          <a:prstGeom prst="rect">
            <a:avLst/>
          </a:prstGeom>
          <a:noFill/>
          <a:ln/>
        </p:spPr>
        <p:txBody>
          <a:bodyPr wrap="square" lIns="0" tIns="0" rIns="0" bIns="0" rtlCol="0" anchor="ctr"/>
          <a:lstStyle/>
          <a:p>
            <a:pPr algn="ctr" indent="0" marL="0">
              <a:buNone/>
            </a:pPr>
            <a:r>
              <a:rPr lang="en-US" sz="1950" b="1" dirty="0">
                <a:solidFill>
                  <a:srgbClr val="B91C1C"/>
                </a:solidFill>
                <a:latin typeface="Calibri" pitchFamily="34" charset="0"/>
                <a:ea typeface="Calibri" pitchFamily="34" charset="-122"/>
                <a:cs typeface="Calibri" pitchFamily="34" charset="-120"/>
              </a:rPr>
              <a:t>Critic</a:t>
            </a:r>
            <a:endParaRPr lang="en-US" sz="1950" dirty="0"/>
          </a:p>
          <a:p>
            <a:pPr algn="ctr" indent="0" marL="0">
              <a:buNone/>
            </a:pPr>
            <a:r>
              <a:rPr lang="en-US" sz="1560" dirty="0">
                <a:solidFill>
                  <a:srgbClr val="1F2937"/>
                </a:solidFill>
                <a:latin typeface="Calibri" pitchFamily="34" charset="0"/>
                <a:ea typeface="Calibri" pitchFamily="34" charset="-122"/>
                <a:cs typeface="Calibri" pitchFamily="34" charset="-120"/>
              </a:rPr>
              <a:t>argues AGAINST</a:t>
            </a:r>
            <a:endParaRPr lang="en-US" sz="1950" dirty="0"/>
          </a:p>
        </p:txBody>
      </p:sp>
      <p:sp>
        <p:nvSpPr>
          <p:cNvPr id="36" name="Shape 33"/>
          <p:cNvSpPr/>
          <p:nvPr/>
        </p:nvSpPr>
        <p:spPr>
          <a:xfrm>
            <a:off x="5779008" y="4910328"/>
            <a:ext cx="329184" cy="0"/>
          </a:xfrm>
          <a:prstGeom prst="line">
            <a:avLst/>
          </a:prstGeom>
          <a:noFill/>
          <a:ln w="19050">
            <a:solidFill>
              <a:srgbClr val="888888"/>
            </a:solidFill>
            <a:prstDash val="solid"/>
            <a:tailEnd type="triangle"/>
          </a:ln>
        </p:spPr>
      </p:sp>
      <p:sp>
        <p:nvSpPr>
          <p:cNvPr id="37" name="Shape 34"/>
          <p:cNvSpPr/>
          <p:nvPr/>
        </p:nvSpPr>
        <p:spPr>
          <a:xfrm>
            <a:off x="6126480" y="4480560"/>
            <a:ext cx="2423160" cy="868680"/>
          </a:xfrm>
          <a:prstGeom prst="roundRect">
            <a:avLst>
              <a:gd name="adj" fmla="val 10526"/>
            </a:avLst>
          </a:prstGeom>
          <a:solidFill>
            <a:srgbClr val="FFF7ED"/>
          </a:solidFill>
          <a:ln w="19050">
            <a:solidFill>
              <a:srgbClr val="B45309"/>
            </a:solidFill>
            <a:prstDash val="solid"/>
          </a:ln>
        </p:spPr>
      </p:sp>
      <p:sp>
        <p:nvSpPr>
          <p:cNvPr id="38" name="Text 35"/>
          <p:cNvSpPr/>
          <p:nvPr/>
        </p:nvSpPr>
        <p:spPr>
          <a:xfrm>
            <a:off x="6126480" y="4480560"/>
            <a:ext cx="2423160" cy="868680"/>
          </a:xfrm>
          <a:prstGeom prst="rect">
            <a:avLst/>
          </a:prstGeom>
          <a:noFill/>
          <a:ln/>
        </p:spPr>
        <p:txBody>
          <a:bodyPr wrap="square" lIns="0" tIns="0" rIns="0" bIns="0" rtlCol="0" anchor="ctr"/>
          <a:lstStyle/>
          <a:p>
            <a:pPr algn="ctr" indent="0" marL="0">
              <a:buNone/>
            </a:pPr>
            <a:r>
              <a:rPr lang="en-US" sz="1950" b="1" dirty="0">
                <a:solidFill>
                  <a:srgbClr val="B45309"/>
                </a:solidFill>
                <a:latin typeface="Calibri" pitchFamily="34" charset="0"/>
                <a:ea typeface="Calibri" pitchFamily="34" charset="-122"/>
                <a:cs typeface="Calibri" pitchFamily="34" charset="-120"/>
              </a:rPr>
              <a:t>Rebuttal</a:t>
            </a:r>
            <a:endParaRPr lang="en-US" sz="1950" dirty="0"/>
          </a:p>
          <a:p>
            <a:pPr algn="ctr" indent="0" marL="0">
              <a:buNone/>
            </a:pPr>
            <a:r>
              <a:rPr lang="en-US" sz="1560" dirty="0">
                <a:solidFill>
                  <a:srgbClr val="1F2937"/>
                </a:solidFill>
                <a:latin typeface="Calibri" pitchFamily="34" charset="0"/>
                <a:ea typeface="Calibri" pitchFamily="34" charset="-122"/>
                <a:cs typeface="Calibri" pitchFamily="34" charset="-120"/>
              </a:rPr>
              <a:t>optional</a:t>
            </a:r>
            <a:endParaRPr lang="en-US" sz="1950" dirty="0"/>
          </a:p>
        </p:txBody>
      </p:sp>
      <p:sp>
        <p:nvSpPr>
          <p:cNvPr id="39" name="Shape 36"/>
          <p:cNvSpPr/>
          <p:nvPr/>
        </p:nvSpPr>
        <p:spPr>
          <a:xfrm>
            <a:off x="8567928" y="4910328"/>
            <a:ext cx="329184" cy="0"/>
          </a:xfrm>
          <a:prstGeom prst="line">
            <a:avLst/>
          </a:prstGeom>
          <a:noFill/>
          <a:ln w="19050">
            <a:solidFill>
              <a:srgbClr val="888888"/>
            </a:solidFill>
            <a:prstDash val="solid"/>
            <a:tailEnd type="triangle"/>
          </a:ln>
        </p:spPr>
      </p:sp>
      <p:sp>
        <p:nvSpPr>
          <p:cNvPr id="40" name="Shape 37"/>
          <p:cNvSpPr/>
          <p:nvPr/>
        </p:nvSpPr>
        <p:spPr>
          <a:xfrm>
            <a:off x="8915400" y="4480560"/>
            <a:ext cx="2423160" cy="868680"/>
          </a:xfrm>
          <a:prstGeom prst="roundRect">
            <a:avLst>
              <a:gd name="adj" fmla="val 10526"/>
            </a:avLst>
          </a:prstGeom>
          <a:solidFill>
            <a:srgbClr val="E0E7FF"/>
          </a:solidFill>
          <a:ln w="19050">
            <a:solidFill>
              <a:srgbClr val="1F3864"/>
            </a:solidFill>
            <a:prstDash val="solid"/>
          </a:ln>
        </p:spPr>
      </p:sp>
      <p:sp>
        <p:nvSpPr>
          <p:cNvPr id="41" name="Text 38"/>
          <p:cNvSpPr/>
          <p:nvPr/>
        </p:nvSpPr>
        <p:spPr>
          <a:xfrm>
            <a:off x="8915400" y="4480560"/>
            <a:ext cx="2423160" cy="868680"/>
          </a:xfrm>
          <a:prstGeom prst="rect">
            <a:avLst/>
          </a:prstGeom>
          <a:noFill/>
          <a:ln/>
        </p:spPr>
        <p:txBody>
          <a:bodyPr wrap="square" lIns="0" tIns="0" rIns="0" bIns="0" rtlCol="0" anchor="ctr"/>
          <a:lstStyle/>
          <a:p>
            <a:pPr algn="ctr" indent="0" marL="0">
              <a:buNone/>
            </a:pPr>
            <a:r>
              <a:rPr lang="en-US" sz="1950" b="1" dirty="0">
                <a:solidFill>
                  <a:srgbClr val="1F3864"/>
                </a:solidFill>
                <a:latin typeface="Calibri" pitchFamily="34" charset="0"/>
                <a:ea typeface="Calibri" pitchFamily="34" charset="-122"/>
                <a:cs typeface="Calibri" pitchFamily="34" charset="-120"/>
              </a:rPr>
              <a:t>Judge</a:t>
            </a:r>
            <a:endParaRPr lang="en-US" sz="1950" dirty="0"/>
          </a:p>
          <a:p>
            <a:pPr algn="ctr" indent="0" marL="0">
              <a:buNone/>
            </a:pPr>
            <a:r>
              <a:rPr lang="en-US" sz="1560" dirty="0">
                <a:solidFill>
                  <a:srgbClr val="1F2937"/>
                </a:solidFill>
                <a:latin typeface="Calibri" pitchFamily="34" charset="0"/>
                <a:ea typeface="Calibri" pitchFamily="34" charset="-122"/>
                <a:cs typeface="Calibri" pitchFamily="34" charset="-120"/>
              </a:rPr>
              <a:t>decides, bound to audit</a:t>
            </a:r>
            <a:endParaRPr lang="en-US" sz="1950" dirty="0"/>
          </a:p>
        </p:txBody>
      </p:sp>
      <p:sp>
        <p:nvSpPr>
          <p:cNvPr id="42" name="Shape 39"/>
          <p:cNvSpPr/>
          <p:nvPr/>
        </p:nvSpPr>
        <p:spPr>
          <a:xfrm>
            <a:off x="548640" y="5577840"/>
            <a:ext cx="11064240" cy="685800"/>
          </a:xfrm>
          <a:prstGeom prst="roundRect">
            <a:avLst>
              <a:gd name="adj" fmla="val 13333"/>
            </a:avLst>
          </a:prstGeom>
          <a:solidFill>
            <a:srgbClr val="EFF6FF"/>
          </a:solidFill>
          <a:ln w="19050">
            <a:solidFill>
              <a:srgbClr val="2563EB"/>
            </a:solidFill>
            <a:prstDash val="solid"/>
          </a:ln>
        </p:spPr>
      </p:sp>
      <p:sp>
        <p:nvSpPr>
          <p:cNvPr id="43" name="Text 40"/>
          <p:cNvSpPr/>
          <p:nvPr/>
        </p:nvSpPr>
        <p:spPr>
          <a:xfrm>
            <a:off x="548640" y="5577840"/>
            <a:ext cx="11064240" cy="685800"/>
          </a:xfrm>
          <a:prstGeom prst="rect">
            <a:avLst/>
          </a:prstGeom>
          <a:noFill/>
          <a:ln/>
        </p:spPr>
        <p:txBody>
          <a:bodyPr wrap="square" lIns="0" tIns="0" rIns="0" bIns="0" rtlCol="0" anchor="ctr"/>
          <a:lstStyle/>
          <a:p>
            <a:pPr algn="ctr" indent="0" marL="0">
              <a:buNone/>
            </a:pPr>
            <a:r>
              <a:rPr lang="en-US" sz="1690" b="1" dirty="0">
                <a:solidFill>
                  <a:srgbClr val="2563EB"/>
                </a:solidFill>
                <a:latin typeface="Calibri" pitchFamily="34" charset="0"/>
                <a:ea typeface="Calibri" pitchFamily="34" charset="-122"/>
                <a:cs typeface="Calibri" pitchFamily="34" charset="-120"/>
              </a:rPr>
              <a:t>Pluggable LLM backend (runtime switch):  Gemini (cloud)   |   Ollama llama3.1:8b (offline)   |   Mock (deterministic, no key)</a:t>
            </a:r>
            <a:endParaRPr lang="en-US" sz="16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Understanding: from free text to structured constraints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8" name="Text 5"/>
          <p:cNvSpPr/>
          <p:nvPr/>
        </p:nvSpPr>
        <p:spPr>
          <a:xfrm>
            <a:off x="548640" y="1280160"/>
            <a:ext cx="5394960" cy="4937760"/>
          </a:xfrm>
          <a:prstGeom prst="rect">
            <a:avLst/>
          </a:prstGeom>
          <a:noFill/>
          <a:ln/>
        </p:spPr>
        <p:txBody>
          <a:bodyPr wrap="square" lIns="635" tIns="635" rIns="635" bIns="635" rtlCol="0" anchor="t"/>
          <a:lstStyle/>
          <a:p>
            <a:pPr indent="0" marL="0">
              <a:spcAft>
                <a:spcPts val="600"/>
              </a:spcAft>
              <a:buNone/>
            </a:pPr>
            <a:r>
              <a:rPr lang="en-US" sz="1820" b="1" dirty="0">
                <a:solidFill>
                  <a:srgbClr val="1F2937"/>
                </a:solidFill>
                <a:latin typeface="Calibri" pitchFamily="34" charset="0"/>
                <a:ea typeface="Calibri" pitchFamily="34" charset="-122"/>
                <a:cs typeface="Calibri" pitchFamily="34" charset="-120"/>
              </a:rPr>
              <a:t>Domain router</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Rule-weighted scoring; LLM fallback only below 0.6 confidence</a:t>
            </a:r>
            <a:endParaRPr lang="en-US" sz="1820" dirty="0"/>
          </a:p>
          <a:p>
            <a:pPr indent="0" marL="0">
              <a:spcAft>
                <a:spcPts val="600"/>
              </a:spcAft>
              <a:buNone/>
            </a:pPr>
            <a:r>
              <a:rPr lang="en-US" sz="1820" b="1" dirty="0">
                <a:solidFill>
                  <a:srgbClr val="1F2937"/>
                </a:solidFill>
                <a:latin typeface="Calibri" pitchFamily="34" charset="0"/>
                <a:ea typeface="Calibri" pitchFamily="34" charset="-122"/>
                <a:cs typeface="Calibri" pitchFamily="34" charset="-120"/>
              </a:rPr>
              <a:t>Rule parser</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Units (30k, 1.5 lakh, two hours), direction, negation, clause-scoped hard / soft</a:t>
            </a:r>
            <a:endParaRPr lang="en-US" sz="1820" dirty="0"/>
          </a:p>
          <a:p>
            <a:pPr indent="0" marL="0">
              <a:spcAft>
                <a:spcPts val="600"/>
              </a:spcAft>
              <a:buNone/>
            </a:pPr>
            <a:r>
              <a:rPr lang="en-US" sz="1820" b="1" dirty="0">
                <a:solidFill>
                  <a:srgbClr val="1F2937"/>
                </a:solidFill>
                <a:latin typeface="Calibri" pitchFamily="34" charset="0"/>
                <a:ea typeface="Calibri" pitchFamily="34" charset="-122"/>
                <a:cs typeface="Calibri" pitchFamily="34" charset="-120"/>
              </a:rPr>
              <a:t>LLM extractor</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JSON schema limited to the domain's facets; adds implicit preferences</a:t>
            </a:r>
            <a:endParaRPr lang="en-US" sz="1820" dirty="0"/>
          </a:p>
          <a:p>
            <a:pPr indent="0" marL="0">
              <a:spcAft>
                <a:spcPts val="600"/>
              </a:spcAft>
              <a:buNone/>
            </a:pPr>
            <a:r>
              <a:rPr lang="en-US" sz="1820" b="1" dirty="0">
                <a:solidFill>
                  <a:srgbClr val="1F2937"/>
                </a:solidFill>
                <a:latin typeface="Calibri" pitchFamily="34" charset="0"/>
                <a:ea typeface="Calibri" pitchFamily="34" charset="-122"/>
                <a:cs typeface="Calibri" pitchFamily="34" charset="-120"/>
              </a:rPr>
              <a:t>Merge policy</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Rules win on conflict; LLM may add or harden, never overwrite</a:t>
            </a:r>
            <a:endParaRPr lang="en-US" sz="1820" dirty="0"/>
          </a:p>
        </p:txBody>
      </p:sp>
      <p:sp>
        <p:nvSpPr>
          <p:cNvPr id="9" name="Text 6"/>
          <p:cNvSpPr/>
          <p:nvPr/>
        </p:nvSpPr>
        <p:spPr>
          <a:xfrm>
            <a:off x="6309360" y="1280160"/>
            <a:ext cx="5303520" cy="365760"/>
          </a:xfrm>
          <a:prstGeom prst="rect">
            <a:avLst/>
          </a:prstGeom>
          <a:noFill/>
          <a:ln/>
        </p:spPr>
        <p:txBody>
          <a:bodyPr wrap="square" lIns="0" tIns="0" rIns="0" bIns="0" rtlCol="0" anchor="ctr"/>
          <a:lstStyle/>
          <a:p>
            <a:pPr indent="0" marL="0">
              <a:buNone/>
            </a:pPr>
            <a:r>
              <a:rPr lang="en-US" sz="2080" b="1" dirty="0">
                <a:solidFill>
                  <a:srgbClr val="2563EB"/>
                </a:solidFill>
                <a:latin typeface="Calibri" pitchFamily="34" charset="0"/>
                <a:ea typeface="Calibri" pitchFamily="34" charset="-122"/>
                <a:cs typeface="Calibri" pitchFamily="34" charset="-120"/>
              </a:rPr>
              <a:t>Example (movies)</a:t>
            </a:r>
            <a:endParaRPr lang="en-US" sz="2080" dirty="0"/>
          </a:p>
        </p:txBody>
      </p:sp>
      <p:sp>
        <p:nvSpPr>
          <p:cNvPr id="10" name="Text 7"/>
          <p:cNvSpPr/>
          <p:nvPr/>
        </p:nvSpPr>
        <p:spPr>
          <a:xfrm>
            <a:off x="6309360" y="1691640"/>
            <a:ext cx="5303520" cy="868680"/>
          </a:xfrm>
          <a:prstGeom prst="rect">
            <a:avLst/>
          </a:prstGeom>
          <a:noFill/>
          <a:ln/>
        </p:spPr>
        <p:txBody>
          <a:bodyPr wrap="square" lIns="0" tIns="0" rIns="0" bIns="0" rtlCol="0" anchor="t"/>
          <a:lstStyle/>
          <a:p>
            <a:pPr indent="0" marL="0">
              <a:buNone/>
            </a:pPr>
            <a:r>
              <a:rPr lang="en-US" sz="1690" i="1" dirty="0">
                <a:solidFill>
                  <a:srgbClr val="1F2937"/>
                </a:solidFill>
                <a:latin typeface="Calibri" pitchFamily="34" charset="0"/>
                <a:ea typeface="Calibri" pitchFamily="34" charset="-122"/>
                <a:cs typeface="Calibri" pitchFamily="34" charset="-120"/>
              </a:rPr>
              <a:t>“a funny science-fiction movie from after 2015, preferably under two hours”</a:t>
            </a:r>
            <a:endParaRPr lang="en-US" sz="169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09360" y="2697480"/>
          <a:ext cx="5303520" cy="914400"/>
        </p:xfrm>
        <a:graphic>
          <a:graphicData uri="http://schemas.openxmlformats.org/drawingml/2006/table">
            <a:tbl>
              <a:tblPr/>
              <a:tblGrid>
                <a:gridCol w="2286000"/>
                <a:gridCol w="2103120"/>
                <a:gridCol w="914400"/>
              </a:tblGrid>
              <a:tr h="0">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Phrase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Constraint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Type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science-fiction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genre = science fiction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soft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funny</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tone = funny</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soft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after 2015</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year &gt;= 2015</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soft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preferably under two hours</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runtime &lt;= 120 min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soft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bl>
          </a:graphicData>
        </a:graphic>
      </p:graphicFrame>
      <p:sp>
        <p:nvSpPr>
          <p:cNvPr id="12" name="Text 8"/>
          <p:cNvSpPr/>
          <p:nvPr/>
        </p:nvSpPr>
        <p:spPr>
          <a:xfrm>
            <a:off x="6309360" y="5577840"/>
            <a:ext cx="5303520" cy="640080"/>
          </a:xfrm>
          <a:prstGeom prst="rect">
            <a:avLst/>
          </a:prstGeom>
          <a:noFill/>
          <a:ln/>
        </p:spPr>
        <p:txBody>
          <a:bodyPr wrap="square" lIns="0" tIns="0" rIns="0" bIns="0" rtlCol="0" anchor="t"/>
          <a:lstStyle/>
          <a:p>
            <a:pPr indent="0" marL="0">
              <a:buNone/>
            </a:pPr>
            <a:r>
              <a:rPr lang="en-US" sz="1690" b="1" dirty="0">
                <a:solidFill>
                  <a:srgbClr val="B91C1C"/>
                </a:solidFill>
                <a:latin typeface="Calibri" pitchFamily="34" charset="0"/>
                <a:ea typeface="Calibri" pitchFamily="34" charset="-122"/>
                <a:cs typeface="Calibri" pitchFamily="34" charset="-120"/>
              </a:rPr>
              <a:t>“must be under 120 minutes” would instead create a hard filter.</a:t>
            </a:r>
            <a:endParaRPr lang="en-US" sz="16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Hybrid retrieval</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548640" y="1280160"/>
            <a:ext cx="11064240" cy="1371600"/>
          </a:xfrm>
          <a:prstGeom prst="roundRect">
            <a:avLst>
              <a:gd name="adj" fmla="val 6667"/>
            </a:avLst>
          </a:prstGeom>
          <a:solidFill>
            <a:srgbClr val="FFFFFF"/>
          </a:solidFill>
          <a:ln w="19050">
            <a:solidFill>
              <a:srgbClr val="0891B2"/>
            </a:solidFill>
            <a:prstDash val="solid"/>
          </a:ln>
        </p:spPr>
      </p:sp>
      <p:sp>
        <p:nvSpPr>
          <p:cNvPr id="9" name="Text 6"/>
          <p:cNvSpPr/>
          <p:nvPr/>
        </p:nvSpPr>
        <p:spPr>
          <a:xfrm>
            <a:off x="731520" y="1280160"/>
            <a:ext cx="10698480" cy="1371600"/>
          </a:xfrm>
          <a:prstGeom prst="rect">
            <a:avLst/>
          </a:prstGeom>
          <a:noFill/>
          <a:ln/>
        </p:spPr>
        <p:txBody>
          <a:bodyPr wrap="square" lIns="0" tIns="0" rIns="0" bIns="0" rtlCol="0" anchor="ctr"/>
          <a:lstStyle/>
          <a:p>
            <a:pPr algn="ctr" indent="0" marL="0">
              <a:buNone/>
            </a:pPr>
            <a:r>
              <a:rPr lang="en-US" sz="2200" dirty="0">
                <a:solidFill>
                  <a:srgbClr val="1F3864"/>
                </a:solidFill>
                <a:latin typeface="Cambria Math" pitchFamily="34" charset="0"/>
                <a:ea typeface="Cambria Math" pitchFamily="34" charset="-122"/>
                <a:cs typeface="Cambria Math" pitchFamily="34" charset="-120"/>
              </a:rPr>
              <a:t>BM25(q, D) = Σ IDF(t) · f(t,D)(k1+1) / [ f(t,D) + k1(1 − b + b|D|/avgdl) ]</a:t>
            </a:r>
            <a:endParaRPr lang="en-US" sz="2200" dirty="0"/>
          </a:p>
          <a:p>
            <a:pPr algn="ctr" indent="0" marL="0">
              <a:buNone/>
            </a:pPr>
            <a:r>
              <a:rPr lang="en-US" sz="1800" dirty="0">
                <a:solidFill>
                  <a:srgbClr val="64748B"/>
                </a:solidFill>
                <a:latin typeface="Cambria Math" pitchFamily="34" charset="0"/>
                <a:ea typeface="Cambria Math" pitchFamily="34" charset="-122"/>
                <a:cs typeface="Cambria Math" pitchFamily="34" charset="-120"/>
              </a:rPr>
              <a:t>k1 = 1.4,   b = 0.72</a:t>
            </a:r>
            <a:endParaRPr lang="en-US" sz="2200" dirty="0"/>
          </a:p>
        </p:txBody>
      </p:sp>
      <p:sp>
        <p:nvSpPr>
          <p:cNvPr id="10" name="Text 7"/>
          <p:cNvSpPr/>
          <p:nvPr/>
        </p:nvSpPr>
        <p:spPr>
          <a:xfrm>
            <a:off x="548640" y="2880360"/>
            <a:ext cx="3657600" cy="365760"/>
          </a:xfrm>
          <a:prstGeom prst="rect">
            <a:avLst/>
          </a:prstGeom>
          <a:noFill/>
          <a:ln/>
        </p:spPr>
        <p:txBody>
          <a:bodyPr wrap="square" lIns="0" tIns="0" rIns="0" bIns="0" rtlCol="0" anchor="ctr"/>
          <a:lstStyle/>
          <a:p>
            <a:pPr indent="0" marL="0">
              <a:buNone/>
            </a:pPr>
            <a:r>
              <a:rPr lang="en-US" sz="2340" b="1" dirty="0">
                <a:solidFill>
                  <a:srgbClr val="2563EB"/>
                </a:solidFill>
                <a:latin typeface="Calibri" pitchFamily="34" charset="0"/>
                <a:ea typeface="Calibri" pitchFamily="34" charset="-122"/>
                <a:cs typeface="Calibri" pitchFamily="34" charset="-120"/>
              </a:rPr>
              <a:t>Fused score</a:t>
            </a:r>
            <a:endParaRPr lang="en-US" sz="2340" dirty="0"/>
          </a:p>
        </p:txBody>
      </p:sp>
      <p:sp>
        <p:nvSpPr>
          <p:cNvPr id="11" name="Text 8"/>
          <p:cNvSpPr/>
          <p:nvPr/>
        </p:nvSpPr>
        <p:spPr>
          <a:xfrm>
            <a:off x="548640" y="3383280"/>
            <a:ext cx="3108960" cy="502920"/>
          </a:xfrm>
          <a:prstGeom prst="rect">
            <a:avLst/>
          </a:prstGeom>
          <a:noFill/>
          <a:ln/>
        </p:spPr>
        <p:txBody>
          <a:bodyPr wrap="square" lIns="0" tIns="0" rIns="0" bIns="0" rtlCol="0" anchor="ctr"/>
          <a:lstStyle/>
          <a:p>
            <a:pPr indent="0" marL="0">
              <a:buNone/>
            </a:pPr>
            <a:r>
              <a:rPr lang="en-US" sz="1950" dirty="0">
                <a:solidFill>
                  <a:srgbClr val="1F2937"/>
                </a:solidFill>
                <a:latin typeface="Calibri" pitchFamily="34" charset="0"/>
                <a:ea typeface="Calibri" pitchFamily="34" charset="-122"/>
                <a:cs typeface="Calibri" pitchFamily="34" charset="-120"/>
              </a:rPr>
              <a:t>BM25</a:t>
            </a:r>
            <a:endParaRPr lang="en-US" sz="1950" dirty="0"/>
          </a:p>
        </p:txBody>
      </p:sp>
      <p:sp>
        <p:nvSpPr>
          <p:cNvPr id="12" name="Shape 9"/>
          <p:cNvSpPr/>
          <p:nvPr/>
        </p:nvSpPr>
        <p:spPr>
          <a:xfrm>
            <a:off x="3749040" y="3456432"/>
            <a:ext cx="4800600" cy="365760"/>
          </a:xfrm>
          <a:prstGeom prst="rect">
            <a:avLst/>
          </a:prstGeom>
          <a:solidFill>
            <a:srgbClr val="0891B2"/>
          </a:solidFill>
          <a:ln w="12700">
            <a:solidFill>
              <a:srgbClr val="0891B2"/>
            </a:solidFill>
            <a:prstDash val="solid"/>
          </a:ln>
        </p:spPr>
      </p:sp>
      <p:sp>
        <p:nvSpPr>
          <p:cNvPr id="13" name="Text 10"/>
          <p:cNvSpPr/>
          <p:nvPr/>
        </p:nvSpPr>
        <p:spPr>
          <a:xfrm>
            <a:off x="8641080" y="3383280"/>
            <a:ext cx="822960" cy="502920"/>
          </a:xfrm>
          <a:prstGeom prst="rect">
            <a:avLst/>
          </a:prstGeom>
          <a:noFill/>
          <a:ln/>
        </p:spPr>
        <p:txBody>
          <a:bodyPr wrap="square" lIns="0" tIns="0" rIns="0" bIns="0" rtlCol="0" anchor="ctr"/>
          <a:lstStyle/>
          <a:p>
            <a:pPr indent="0" marL="0">
              <a:buNone/>
            </a:pPr>
            <a:r>
              <a:rPr lang="en-US" sz="2080" b="1" dirty="0">
                <a:solidFill>
                  <a:srgbClr val="0891B2"/>
                </a:solidFill>
                <a:latin typeface="Calibri" pitchFamily="34" charset="0"/>
                <a:ea typeface="Calibri" pitchFamily="34" charset="-122"/>
                <a:cs typeface="Calibri" pitchFamily="34" charset="-120"/>
              </a:rPr>
              <a:t>0.45</a:t>
            </a:r>
            <a:endParaRPr lang="en-US" sz="2080" dirty="0"/>
          </a:p>
        </p:txBody>
      </p:sp>
      <p:sp>
        <p:nvSpPr>
          <p:cNvPr id="14" name="Text 11"/>
          <p:cNvSpPr/>
          <p:nvPr/>
        </p:nvSpPr>
        <p:spPr>
          <a:xfrm>
            <a:off x="548640" y="4069080"/>
            <a:ext cx="3108960" cy="502920"/>
          </a:xfrm>
          <a:prstGeom prst="rect">
            <a:avLst/>
          </a:prstGeom>
          <a:noFill/>
          <a:ln/>
        </p:spPr>
        <p:txBody>
          <a:bodyPr wrap="square" lIns="0" tIns="0" rIns="0" bIns="0" rtlCol="0" anchor="ctr"/>
          <a:lstStyle/>
          <a:p>
            <a:pPr indent="0" marL="0">
              <a:buNone/>
            </a:pPr>
            <a:r>
              <a:rPr lang="en-US" sz="1950" dirty="0">
                <a:solidFill>
                  <a:srgbClr val="1F2937"/>
                </a:solidFill>
                <a:latin typeface="Calibri" pitchFamily="34" charset="0"/>
                <a:ea typeface="Calibri" pitchFamily="34" charset="-122"/>
                <a:cs typeface="Calibri" pitchFamily="34" charset="-120"/>
              </a:rPr>
              <a:t>TF-IDF word (1-2 gram)</a:t>
            </a:r>
            <a:endParaRPr lang="en-US" sz="1950" dirty="0"/>
          </a:p>
        </p:txBody>
      </p:sp>
      <p:sp>
        <p:nvSpPr>
          <p:cNvPr id="15" name="Shape 12"/>
          <p:cNvSpPr/>
          <p:nvPr/>
        </p:nvSpPr>
        <p:spPr>
          <a:xfrm>
            <a:off x="3749040" y="4142232"/>
            <a:ext cx="3733800" cy="365760"/>
          </a:xfrm>
          <a:prstGeom prst="rect">
            <a:avLst/>
          </a:prstGeom>
          <a:solidFill>
            <a:srgbClr val="2563EB"/>
          </a:solidFill>
          <a:ln w="12700">
            <a:solidFill>
              <a:srgbClr val="2563EB"/>
            </a:solidFill>
            <a:prstDash val="solid"/>
          </a:ln>
        </p:spPr>
      </p:sp>
      <p:sp>
        <p:nvSpPr>
          <p:cNvPr id="16" name="Text 13"/>
          <p:cNvSpPr/>
          <p:nvPr/>
        </p:nvSpPr>
        <p:spPr>
          <a:xfrm>
            <a:off x="7574280" y="4069080"/>
            <a:ext cx="822960" cy="502920"/>
          </a:xfrm>
          <a:prstGeom prst="rect">
            <a:avLst/>
          </a:prstGeom>
          <a:noFill/>
          <a:ln/>
        </p:spPr>
        <p:txBody>
          <a:bodyPr wrap="square" lIns="0" tIns="0" rIns="0" bIns="0" rtlCol="0" anchor="ctr"/>
          <a:lstStyle/>
          <a:p>
            <a:pPr indent="0" marL="0">
              <a:buNone/>
            </a:pPr>
            <a:r>
              <a:rPr lang="en-US" sz="2080" b="1" dirty="0">
                <a:solidFill>
                  <a:srgbClr val="2563EB"/>
                </a:solidFill>
                <a:latin typeface="Calibri" pitchFamily="34" charset="0"/>
                <a:ea typeface="Calibri" pitchFamily="34" charset="-122"/>
                <a:cs typeface="Calibri" pitchFamily="34" charset="-120"/>
              </a:rPr>
              <a:t>0.35</a:t>
            </a:r>
            <a:endParaRPr lang="en-US" sz="2080" dirty="0"/>
          </a:p>
        </p:txBody>
      </p:sp>
      <p:sp>
        <p:nvSpPr>
          <p:cNvPr id="17" name="Text 14"/>
          <p:cNvSpPr/>
          <p:nvPr/>
        </p:nvSpPr>
        <p:spPr>
          <a:xfrm>
            <a:off x="548640" y="4754880"/>
            <a:ext cx="3108960" cy="502920"/>
          </a:xfrm>
          <a:prstGeom prst="rect">
            <a:avLst/>
          </a:prstGeom>
          <a:noFill/>
          <a:ln/>
        </p:spPr>
        <p:txBody>
          <a:bodyPr wrap="square" lIns="0" tIns="0" rIns="0" bIns="0" rtlCol="0" anchor="ctr"/>
          <a:lstStyle/>
          <a:p>
            <a:pPr indent="0" marL="0">
              <a:buNone/>
            </a:pPr>
            <a:r>
              <a:rPr lang="en-US" sz="1950" dirty="0">
                <a:solidFill>
                  <a:srgbClr val="1F2937"/>
                </a:solidFill>
                <a:latin typeface="Calibri" pitchFamily="34" charset="0"/>
                <a:ea typeface="Calibri" pitchFamily="34" charset="-122"/>
                <a:cs typeface="Calibri" pitchFamily="34" charset="-120"/>
              </a:rPr>
              <a:t>TF-IDF char (3-5 gram)</a:t>
            </a:r>
            <a:endParaRPr lang="en-US" sz="1950" dirty="0"/>
          </a:p>
        </p:txBody>
      </p:sp>
      <p:sp>
        <p:nvSpPr>
          <p:cNvPr id="18" name="Shape 15"/>
          <p:cNvSpPr/>
          <p:nvPr/>
        </p:nvSpPr>
        <p:spPr>
          <a:xfrm>
            <a:off x="3749040" y="4828032"/>
            <a:ext cx="2133600" cy="365760"/>
          </a:xfrm>
          <a:prstGeom prst="rect">
            <a:avLst/>
          </a:prstGeom>
          <a:solidFill>
            <a:srgbClr val="1F3864"/>
          </a:solidFill>
          <a:ln w="12700">
            <a:solidFill>
              <a:srgbClr val="1F3864"/>
            </a:solidFill>
            <a:prstDash val="solid"/>
          </a:ln>
        </p:spPr>
      </p:sp>
      <p:sp>
        <p:nvSpPr>
          <p:cNvPr id="19" name="Text 16"/>
          <p:cNvSpPr/>
          <p:nvPr/>
        </p:nvSpPr>
        <p:spPr>
          <a:xfrm>
            <a:off x="5974080" y="4754880"/>
            <a:ext cx="822960" cy="502920"/>
          </a:xfrm>
          <a:prstGeom prst="rect">
            <a:avLst/>
          </a:prstGeom>
          <a:noFill/>
          <a:ln/>
        </p:spPr>
        <p:txBody>
          <a:bodyPr wrap="square" lIns="0" tIns="0" rIns="0" bIns="0" rtlCol="0" anchor="ctr"/>
          <a:lstStyle/>
          <a:p>
            <a:pPr indent="0" marL="0">
              <a:buNone/>
            </a:pPr>
            <a:r>
              <a:rPr lang="en-US" sz="2080" b="1" dirty="0">
                <a:solidFill>
                  <a:srgbClr val="1F3864"/>
                </a:solidFill>
                <a:latin typeface="Calibri" pitchFamily="34" charset="0"/>
                <a:ea typeface="Calibri" pitchFamily="34" charset="-122"/>
                <a:cs typeface="Calibri" pitchFamily="34" charset="-120"/>
              </a:rPr>
              <a:t>0.20</a:t>
            </a:r>
            <a:endParaRPr lang="en-US" sz="2080" dirty="0"/>
          </a:p>
        </p:txBody>
      </p:sp>
      <p:sp>
        <p:nvSpPr>
          <p:cNvPr id="20" name="Text 17"/>
          <p:cNvSpPr/>
          <p:nvPr/>
        </p:nvSpPr>
        <p:spPr>
          <a:xfrm>
            <a:off x="548640" y="5349240"/>
            <a:ext cx="11064240" cy="1005840"/>
          </a:xfrm>
          <a:prstGeom prst="rect">
            <a:avLst/>
          </a:prstGeom>
          <a:noFill/>
          <a:ln/>
        </p:spPr>
        <p:txBody>
          <a:bodyPr wrap="square" lIns="635" tIns="635" rIns="635" bIns="635" rtlCol="0" anchor="t"/>
          <a:lstStyle/>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Each scorer max-normalised to [0, 1] before fusion</a:t>
            </a:r>
            <a:endParaRPr lang="en-US" sz="1820" dirty="0"/>
          </a:p>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Optional dense embeddings replace all three; later stages unchanged</a:t>
            </a:r>
            <a:endParaRPr lang="en-US" sz="1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Deterministic constraint audit and graded near-misses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8" name="Text 5"/>
          <p:cNvSpPr/>
          <p:nvPr/>
        </p:nvSpPr>
        <p:spPr>
          <a:xfrm>
            <a:off x="548640" y="1280160"/>
            <a:ext cx="5669280" cy="2560320"/>
          </a:xfrm>
          <a:prstGeom prst="rect">
            <a:avLst/>
          </a:prstGeom>
          <a:noFill/>
          <a:ln/>
        </p:spPr>
        <p:txBody>
          <a:bodyPr wrap="square" lIns="635" tIns="635" rIns="635" bIns="635" rtlCol="0" anchor="t"/>
          <a:lstStyle/>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Every stated preference becomes PASS, FAIL or UNKNOWN</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The Judge must discard any claim that contradicts the audit</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Soft misses are graded, not binary:</a:t>
            </a:r>
            <a:endParaRPr lang="en-US" sz="2080" dirty="0"/>
          </a:p>
        </p:txBody>
      </p:sp>
      <p:sp>
        <p:nvSpPr>
          <p:cNvPr id="9" name="Shape 6"/>
          <p:cNvSpPr/>
          <p:nvPr/>
        </p:nvSpPr>
        <p:spPr>
          <a:xfrm>
            <a:off x="548640" y="3931920"/>
            <a:ext cx="5669280" cy="1097280"/>
          </a:xfrm>
          <a:prstGeom prst="roundRect">
            <a:avLst>
              <a:gd name="adj" fmla="val 8333"/>
            </a:avLst>
          </a:prstGeom>
          <a:solidFill>
            <a:srgbClr val="FFFFFF"/>
          </a:solidFill>
          <a:ln w="19050">
            <a:solidFill>
              <a:srgbClr val="B45309"/>
            </a:solidFill>
            <a:prstDash val="solid"/>
          </a:ln>
        </p:spPr>
      </p:sp>
      <p:sp>
        <p:nvSpPr>
          <p:cNvPr id="10" name="Text 7"/>
          <p:cNvSpPr/>
          <p:nvPr/>
        </p:nvSpPr>
        <p:spPr>
          <a:xfrm>
            <a:off x="548640" y="3931920"/>
            <a:ext cx="5669280" cy="1097280"/>
          </a:xfrm>
          <a:prstGeom prst="rect">
            <a:avLst/>
          </a:prstGeom>
          <a:noFill/>
          <a:ln/>
        </p:spPr>
        <p:txBody>
          <a:bodyPr wrap="square" lIns="0" tIns="0" rIns="0" bIns="0" rtlCol="0" anchor="ctr"/>
          <a:lstStyle/>
          <a:p>
            <a:pPr algn="ctr" indent="0" marL="0">
              <a:buNone/>
            </a:pPr>
            <a:r>
              <a:rPr lang="en-US" sz="1950" dirty="0">
                <a:solidFill>
                  <a:srgbClr val="1F3864"/>
                </a:solidFill>
                <a:latin typeface="Cambria Math" pitchFamily="34" charset="0"/>
                <a:ea typeface="Cambria Math" pitchFamily="34" charset="-122"/>
                <a:cs typeface="Cambria Math" pitchFamily="34" charset="-120"/>
              </a:rPr>
              <a:t>d(v, t) = 1  if v ≤ t</a:t>
            </a:r>
            <a:endParaRPr lang="en-US" sz="1950" dirty="0"/>
          </a:p>
          <a:p>
            <a:pPr algn="ctr" indent="0" marL="0">
              <a:buNone/>
            </a:pPr>
            <a:r>
              <a:rPr lang="en-US" sz="1950" dirty="0">
                <a:solidFill>
                  <a:srgbClr val="1F3864"/>
                </a:solidFill>
                <a:latin typeface="Cambria Math" pitchFamily="34" charset="0"/>
                <a:ea typeface="Cambria Math" pitchFamily="34" charset="-122"/>
                <a:cs typeface="Cambria Math" pitchFamily="34" charset="-120"/>
              </a:rPr>
              <a:t>d(v, t) = max(0, 1 − (v − t) / S)  otherwise</a:t>
            </a:r>
            <a:endParaRPr lang="en-US" sz="1950" dirty="0"/>
          </a:p>
        </p:txBody>
      </p:sp>
      <p:sp>
        <p:nvSpPr>
          <p:cNvPr id="11" name="Text 8"/>
          <p:cNvSpPr/>
          <p:nvPr/>
        </p:nvSpPr>
        <p:spPr>
          <a:xfrm>
            <a:off x="548640" y="5166360"/>
            <a:ext cx="5669280" cy="457200"/>
          </a:xfrm>
          <a:prstGeom prst="rect">
            <a:avLst/>
          </a:prstGeom>
          <a:noFill/>
          <a:ln/>
        </p:spPr>
        <p:txBody>
          <a:bodyPr wrap="square" lIns="0" tIns="0" rIns="0" bIns="0" rtlCol="0" anchor="ctr"/>
          <a:lstStyle/>
          <a:p>
            <a:pPr indent="0" marL="0">
              <a:buNone/>
            </a:pPr>
            <a:r>
              <a:rPr lang="en-US" sz="1560" i="1" dirty="0">
                <a:solidFill>
                  <a:srgbClr val="64748B"/>
                </a:solidFill>
                <a:latin typeface="Calibri" pitchFamily="34" charset="0"/>
                <a:ea typeface="Calibri" pitchFamily="34" charset="-122"/>
                <a:cs typeface="Calibri" pitchFamily="34" charset="-120"/>
              </a:rPr>
              <a:t>S = max − min of that facet across the real catalogue</a:t>
            </a:r>
            <a:endParaRPr lang="en-US" sz="1560" dirty="0"/>
          </a:p>
        </p:txBody>
      </p:sp>
      <p:sp>
        <p:nvSpPr>
          <p:cNvPr id="12" name="Text 9"/>
          <p:cNvSpPr/>
          <p:nvPr/>
        </p:nvSpPr>
        <p:spPr>
          <a:xfrm>
            <a:off x="6675120" y="1234440"/>
            <a:ext cx="5120640" cy="457200"/>
          </a:xfrm>
          <a:prstGeom prst="rect">
            <a:avLst/>
          </a:prstGeom>
          <a:noFill/>
          <a:ln/>
        </p:spPr>
        <p:txBody>
          <a:bodyPr wrap="square" lIns="0" tIns="0" rIns="0" bIns="0" rtlCol="0" anchor="ctr"/>
          <a:lstStyle/>
          <a:p>
            <a:pPr indent="0" marL="0">
              <a:buNone/>
            </a:pPr>
            <a:r>
              <a:rPr lang="en-US" sz="1820" b="1" dirty="0">
                <a:solidFill>
                  <a:srgbClr val="2563EB"/>
                </a:solidFill>
                <a:latin typeface="Calibri" pitchFamily="34" charset="0"/>
                <a:ea typeface="Calibri" pitchFamily="34" charset="-122"/>
                <a:cs typeface="Calibri" pitchFamily="34" charset="-120"/>
              </a:rPr>
              <a:t>Live run (target: runtime &lt;= 120 min)</a:t>
            </a:r>
            <a:endParaRPr lang="en-US" sz="182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75120" y="1828800"/>
          <a:ext cx="4937760" cy="914400"/>
        </p:xfrm>
        <a:graphic>
          <a:graphicData uri="http://schemas.openxmlformats.org/drawingml/2006/table">
            <a:tbl>
              <a:tblPr/>
              <a:tblGrid>
                <a:gridCol w="2377440"/>
                <a:gridCol w="914400"/>
                <a:gridCol w="731520"/>
                <a:gridCol w="914400"/>
              </a:tblGrid>
              <a:tr h="0">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Film</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Runtime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Audit</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560" b="1" dirty="0">
                          <a:solidFill>
                            <a:srgbClr val="FFFFFF"/>
                          </a:solidFill>
                          <a:latin typeface="Calibri" pitchFamily="34" charset="0"/>
                          <a:ea typeface="Calibri" pitchFamily="34" charset="-122"/>
                          <a:cs typeface="Calibri" pitchFamily="34" charset="-120"/>
                        </a:rPr>
                        <a:t>Degree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Everything Everywhere All at Once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139 min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FAIL</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0.681</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The Martian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144 min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FAIL</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0.597</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1560" dirty="0">
                          <a:solidFill>
                            <a:srgbClr val="1F2937"/>
                          </a:solidFill>
                          <a:latin typeface="Calibri" pitchFamily="34" charset="0"/>
                          <a:ea typeface="Calibri" pitchFamily="34" charset="-122"/>
                          <a:cs typeface="Calibri" pitchFamily="34" charset="-120"/>
                        </a:rPr>
                        <a:t>Spider-Man: No Way Home</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148 min</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FAIL</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560" dirty="0">
                          <a:solidFill>
                            <a:srgbClr val="1F2937"/>
                          </a:solidFill>
                          <a:latin typeface="Calibri" pitchFamily="34" charset="0"/>
                          <a:ea typeface="Calibri" pitchFamily="34" charset="-122"/>
                          <a:cs typeface="Calibri" pitchFamily="34" charset="-120"/>
                        </a:rPr>
                        <a:t>0.529</a:t>
                      </a:r>
                      <a:endParaRPr lang="en-US" sz="156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4" name="Text 10"/>
          <p:cNvSpPr/>
          <p:nvPr/>
        </p:nvSpPr>
        <p:spPr>
          <a:xfrm>
            <a:off x="6675120" y="4480560"/>
            <a:ext cx="4937760" cy="1097280"/>
          </a:xfrm>
          <a:prstGeom prst="rect">
            <a:avLst/>
          </a:prstGeom>
          <a:noFill/>
          <a:ln/>
        </p:spPr>
        <p:txBody>
          <a:bodyPr wrap="square" lIns="0" tIns="0" rIns="0" bIns="0" rtlCol="0" anchor="t"/>
          <a:lstStyle/>
          <a:p>
            <a:pPr indent="0" marL="0">
              <a:buNone/>
            </a:pPr>
            <a:r>
              <a:rPr lang="en-US" sz="1690" dirty="0">
                <a:solidFill>
                  <a:srgbClr val="1F2937"/>
                </a:solidFill>
                <a:latin typeface="Calibri" pitchFamily="34" charset="0"/>
                <a:ea typeface="Calibri" pitchFamily="34" charset="-122"/>
                <a:cs typeface="Calibri" pitchFamily="34" charset="-120"/>
              </a:rPr>
              <a:t>A bigger miss scores lower, so the ranking reflects how far each film is from the request.</a:t>
            </a:r>
            <a:endParaRPr lang="en-US" sz="16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Debate protocol</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548640" y="1417320"/>
            <a:ext cx="640080" cy="640080"/>
          </a:xfrm>
          <a:prstGeom prst="ellipse">
            <a:avLst/>
          </a:prstGeom>
          <a:solidFill>
            <a:srgbClr val="15803D"/>
          </a:solidFill>
          <a:ln w="12700">
            <a:solidFill>
              <a:srgbClr val="15803D"/>
            </a:solidFill>
            <a:prstDash val="solid"/>
          </a:ln>
        </p:spPr>
      </p:sp>
      <p:sp>
        <p:nvSpPr>
          <p:cNvPr id="9" name="Text 6"/>
          <p:cNvSpPr/>
          <p:nvPr/>
        </p:nvSpPr>
        <p:spPr>
          <a:xfrm>
            <a:off x="548640" y="141732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10" name="Text 7"/>
          <p:cNvSpPr/>
          <p:nvPr/>
        </p:nvSpPr>
        <p:spPr>
          <a:xfrm>
            <a:off x="1417320" y="1325880"/>
            <a:ext cx="3108960" cy="822960"/>
          </a:xfrm>
          <a:prstGeom prst="rect">
            <a:avLst/>
          </a:prstGeom>
          <a:noFill/>
          <a:ln/>
        </p:spPr>
        <p:txBody>
          <a:bodyPr wrap="square" lIns="0" tIns="0" rIns="0" bIns="0" rtlCol="0" anchor="ctr"/>
          <a:lstStyle/>
          <a:p>
            <a:pPr indent="0" marL="0">
              <a:buNone/>
            </a:pPr>
            <a:r>
              <a:rPr lang="en-US" sz="2080" b="1" dirty="0">
                <a:solidFill>
                  <a:srgbClr val="15803D"/>
                </a:solidFill>
                <a:latin typeface="Calibri" pitchFamily="34" charset="0"/>
                <a:ea typeface="Calibri" pitchFamily="34" charset="-122"/>
                <a:cs typeface="Calibri" pitchFamily="34" charset="-120"/>
              </a:rPr>
              <a:t>Supporter</a:t>
            </a:r>
            <a:endParaRPr lang="en-US" sz="2080" dirty="0"/>
          </a:p>
        </p:txBody>
      </p:sp>
      <p:sp>
        <p:nvSpPr>
          <p:cNvPr id="11" name="Text 8"/>
          <p:cNvSpPr/>
          <p:nvPr/>
        </p:nvSpPr>
        <p:spPr>
          <a:xfrm>
            <a:off x="4572000" y="1325880"/>
            <a:ext cx="6766560" cy="822960"/>
          </a:xfrm>
          <a:prstGeom prst="rect">
            <a:avLst/>
          </a:prstGeom>
          <a:noFill/>
          <a:ln/>
        </p:spPr>
        <p:txBody>
          <a:bodyPr wrap="square" lIns="0" tIns="0" rIns="0" bIns="0" rtlCol="0" anchor="ctr"/>
          <a:lstStyle/>
          <a:p>
            <a:pPr indent="0" marL="0">
              <a:buNone/>
            </a:pPr>
            <a:r>
              <a:rPr lang="en-US" sz="1820" dirty="0">
                <a:solidFill>
                  <a:srgbClr val="1F2937"/>
                </a:solidFill>
                <a:latin typeface="Calibri" pitchFamily="34" charset="0"/>
                <a:ea typeface="Calibri" pitchFamily="34" charset="-122"/>
                <a:cs typeface="Calibri" pitchFamily="34" charset="-120"/>
              </a:rPr>
              <a:t>States the strongest evidence-grounded case for the item</a:t>
            </a:r>
            <a:endParaRPr lang="en-US" sz="1820" dirty="0"/>
          </a:p>
        </p:txBody>
      </p:sp>
      <p:sp>
        <p:nvSpPr>
          <p:cNvPr id="12" name="Shape 9"/>
          <p:cNvSpPr/>
          <p:nvPr/>
        </p:nvSpPr>
        <p:spPr>
          <a:xfrm>
            <a:off x="548640" y="2377440"/>
            <a:ext cx="640080" cy="640080"/>
          </a:xfrm>
          <a:prstGeom prst="ellipse">
            <a:avLst/>
          </a:prstGeom>
          <a:solidFill>
            <a:srgbClr val="B91C1C"/>
          </a:solidFill>
          <a:ln w="12700">
            <a:solidFill>
              <a:srgbClr val="B91C1C"/>
            </a:solidFill>
            <a:prstDash val="solid"/>
          </a:ln>
        </p:spPr>
      </p:sp>
      <p:sp>
        <p:nvSpPr>
          <p:cNvPr id="13" name="Text 10"/>
          <p:cNvSpPr/>
          <p:nvPr/>
        </p:nvSpPr>
        <p:spPr>
          <a:xfrm>
            <a:off x="548640" y="237744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4" name="Text 11"/>
          <p:cNvSpPr/>
          <p:nvPr/>
        </p:nvSpPr>
        <p:spPr>
          <a:xfrm>
            <a:off x="1417320" y="2286000"/>
            <a:ext cx="3108960" cy="822960"/>
          </a:xfrm>
          <a:prstGeom prst="rect">
            <a:avLst/>
          </a:prstGeom>
          <a:noFill/>
          <a:ln/>
        </p:spPr>
        <p:txBody>
          <a:bodyPr wrap="square" lIns="0" tIns="0" rIns="0" bIns="0" rtlCol="0" anchor="ctr"/>
          <a:lstStyle/>
          <a:p>
            <a:pPr indent="0" marL="0">
              <a:buNone/>
            </a:pPr>
            <a:r>
              <a:rPr lang="en-US" sz="2080" b="1" dirty="0">
                <a:solidFill>
                  <a:srgbClr val="B91C1C"/>
                </a:solidFill>
                <a:latin typeface="Calibri" pitchFamily="34" charset="0"/>
                <a:ea typeface="Calibri" pitchFamily="34" charset="-122"/>
                <a:cs typeface="Calibri" pitchFamily="34" charset="-120"/>
              </a:rPr>
              <a:t>Critic</a:t>
            </a:r>
            <a:endParaRPr lang="en-US" sz="2080" dirty="0"/>
          </a:p>
        </p:txBody>
      </p:sp>
      <p:sp>
        <p:nvSpPr>
          <p:cNvPr id="15" name="Text 12"/>
          <p:cNvSpPr/>
          <p:nvPr/>
        </p:nvSpPr>
        <p:spPr>
          <a:xfrm>
            <a:off x="4572000" y="2286000"/>
            <a:ext cx="6766560" cy="822960"/>
          </a:xfrm>
          <a:prstGeom prst="rect">
            <a:avLst/>
          </a:prstGeom>
          <a:noFill/>
          <a:ln/>
        </p:spPr>
        <p:txBody>
          <a:bodyPr wrap="square" lIns="0" tIns="0" rIns="0" bIns="0" rtlCol="0" anchor="ctr"/>
          <a:lstStyle/>
          <a:p>
            <a:pPr indent="0" marL="0">
              <a:buNone/>
            </a:pPr>
            <a:r>
              <a:rPr lang="en-US" sz="1820" dirty="0">
                <a:solidFill>
                  <a:srgbClr val="1F2937"/>
                </a:solidFill>
                <a:latin typeface="Calibri" pitchFamily="34" charset="0"/>
                <a:ea typeface="Calibri" pitchFamily="34" charset="-122"/>
                <a:cs typeface="Calibri" pitchFamily="34" charset="-120"/>
              </a:rPr>
              <a:t>Argues against it after reading the case; flags unsupported claims</a:t>
            </a:r>
            <a:endParaRPr lang="en-US" sz="1820" dirty="0"/>
          </a:p>
        </p:txBody>
      </p:sp>
      <p:sp>
        <p:nvSpPr>
          <p:cNvPr id="16" name="Shape 13"/>
          <p:cNvSpPr/>
          <p:nvPr/>
        </p:nvSpPr>
        <p:spPr>
          <a:xfrm>
            <a:off x="548640" y="3337560"/>
            <a:ext cx="640080" cy="640080"/>
          </a:xfrm>
          <a:prstGeom prst="ellipse">
            <a:avLst/>
          </a:prstGeom>
          <a:solidFill>
            <a:srgbClr val="B45309"/>
          </a:solidFill>
          <a:ln w="12700">
            <a:solidFill>
              <a:srgbClr val="B45309"/>
            </a:solidFill>
            <a:prstDash val="solid"/>
          </a:ln>
        </p:spPr>
      </p:sp>
      <p:sp>
        <p:nvSpPr>
          <p:cNvPr id="17" name="Text 14"/>
          <p:cNvSpPr/>
          <p:nvPr/>
        </p:nvSpPr>
        <p:spPr>
          <a:xfrm>
            <a:off x="548640" y="333756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8" name="Text 15"/>
          <p:cNvSpPr/>
          <p:nvPr/>
        </p:nvSpPr>
        <p:spPr>
          <a:xfrm>
            <a:off x="1417320" y="3246120"/>
            <a:ext cx="3108960" cy="822960"/>
          </a:xfrm>
          <a:prstGeom prst="rect">
            <a:avLst/>
          </a:prstGeom>
          <a:noFill/>
          <a:ln/>
        </p:spPr>
        <p:txBody>
          <a:bodyPr wrap="square" lIns="0" tIns="0" rIns="0" bIns="0" rtlCol="0" anchor="ctr"/>
          <a:lstStyle/>
          <a:p>
            <a:pPr indent="0" marL="0">
              <a:buNone/>
            </a:pPr>
            <a:r>
              <a:rPr lang="en-US" sz="2080" b="1" dirty="0">
                <a:solidFill>
                  <a:srgbClr val="B45309"/>
                </a:solidFill>
                <a:latin typeface="Calibri" pitchFamily="34" charset="0"/>
                <a:ea typeface="Calibri" pitchFamily="34" charset="-122"/>
                <a:cs typeface="Calibri" pitchFamily="34" charset="-120"/>
              </a:rPr>
              <a:t>Rebuttal (optional)</a:t>
            </a:r>
            <a:endParaRPr lang="en-US" sz="2080" dirty="0"/>
          </a:p>
        </p:txBody>
      </p:sp>
      <p:sp>
        <p:nvSpPr>
          <p:cNvPr id="19" name="Text 16"/>
          <p:cNvSpPr/>
          <p:nvPr/>
        </p:nvSpPr>
        <p:spPr>
          <a:xfrm>
            <a:off x="4572000" y="3246120"/>
            <a:ext cx="6766560" cy="822960"/>
          </a:xfrm>
          <a:prstGeom prst="rect">
            <a:avLst/>
          </a:prstGeom>
          <a:noFill/>
          <a:ln/>
        </p:spPr>
        <p:txBody>
          <a:bodyPr wrap="square" lIns="0" tIns="0" rIns="0" bIns="0" rtlCol="0" anchor="ctr"/>
          <a:lstStyle/>
          <a:p>
            <a:pPr indent="0" marL="0">
              <a:buNone/>
            </a:pPr>
            <a:r>
              <a:rPr lang="en-US" sz="1820" dirty="0">
                <a:solidFill>
                  <a:srgbClr val="1F2937"/>
                </a:solidFill>
                <a:latin typeface="Calibri" pitchFamily="34" charset="0"/>
                <a:ea typeface="Calibri" pitchFamily="34" charset="-122"/>
                <a:cs typeface="Calibri" pitchFamily="34" charset="-120"/>
              </a:rPr>
              <a:t>Supporter concedes what the data supports, rebuts the rest</a:t>
            </a:r>
            <a:endParaRPr lang="en-US" sz="1820" dirty="0"/>
          </a:p>
        </p:txBody>
      </p:sp>
      <p:sp>
        <p:nvSpPr>
          <p:cNvPr id="20" name="Shape 17"/>
          <p:cNvSpPr/>
          <p:nvPr/>
        </p:nvSpPr>
        <p:spPr>
          <a:xfrm>
            <a:off x="548640" y="4297680"/>
            <a:ext cx="640080" cy="640080"/>
          </a:xfrm>
          <a:prstGeom prst="ellipse">
            <a:avLst/>
          </a:prstGeom>
          <a:solidFill>
            <a:srgbClr val="1F3864"/>
          </a:solidFill>
          <a:ln w="12700">
            <a:solidFill>
              <a:srgbClr val="1F3864"/>
            </a:solidFill>
            <a:prstDash val="solid"/>
          </a:ln>
        </p:spPr>
      </p:sp>
      <p:sp>
        <p:nvSpPr>
          <p:cNvPr id="21" name="Text 18"/>
          <p:cNvSpPr/>
          <p:nvPr/>
        </p:nvSpPr>
        <p:spPr>
          <a:xfrm>
            <a:off x="548640" y="429768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2" name="Text 19"/>
          <p:cNvSpPr/>
          <p:nvPr/>
        </p:nvSpPr>
        <p:spPr>
          <a:xfrm>
            <a:off x="1417320" y="4206240"/>
            <a:ext cx="3108960" cy="822960"/>
          </a:xfrm>
          <a:prstGeom prst="rect">
            <a:avLst/>
          </a:prstGeom>
          <a:noFill/>
          <a:ln/>
        </p:spPr>
        <p:txBody>
          <a:bodyPr wrap="square" lIns="0" tIns="0" rIns="0" bIns="0" rtlCol="0" anchor="ctr"/>
          <a:lstStyle/>
          <a:p>
            <a:pPr indent="0" marL="0">
              <a:buNone/>
            </a:pPr>
            <a:r>
              <a:rPr lang="en-US" sz="2080" b="1" dirty="0">
                <a:solidFill>
                  <a:srgbClr val="1F3864"/>
                </a:solidFill>
                <a:latin typeface="Calibri" pitchFamily="34" charset="0"/>
                <a:ea typeface="Calibri" pitchFamily="34" charset="-122"/>
                <a:cs typeface="Calibri" pitchFamily="34" charset="-120"/>
              </a:rPr>
              <a:t>Judge</a:t>
            </a:r>
            <a:endParaRPr lang="en-US" sz="2080" dirty="0"/>
          </a:p>
        </p:txBody>
      </p:sp>
      <p:sp>
        <p:nvSpPr>
          <p:cNvPr id="23" name="Text 20"/>
          <p:cNvSpPr/>
          <p:nvPr/>
        </p:nvSpPr>
        <p:spPr>
          <a:xfrm>
            <a:off x="4572000" y="4206240"/>
            <a:ext cx="6766560" cy="822960"/>
          </a:xfrm>
          <a:prstGeom prst="rect">
            <a:avLst/>
          </a:prstGeom>
          <a:noFill/>
          <a:ln/>
        </p:spPr>
        <p:txBody>
          <a:bodyPr wrap="square" lIns="0" tIns="0" rIns="0" bIns="0" rtlCol="0" anchor="ctr"/>
          <a:lstStyle/>
          <a:p>
            <a:pPr indent="0" marL="0">
              <a:buNone/>
            </a:pPr>
            <a:r>
              <a:rPr lang="en-US" sz="1820" dirty="0">
                <a:solidFill>
                  <a:srgbClr val="1F2937"/>
                </a:solidFill>
                <a:latin typeface="Calibri" pitchFamily="34" charset="0"/>
                <a:ea typeface="Calibri" pitchFamily="34" charset="-122"/>
                <a:cs typeface="Calibri" pitchFamily="34" charset="-120"/>
              </a:rPr>
              <a:t>Reconciles both with the audit; outputs score, decision, confidence</a:t>
            </a:r>
            <a:endParaRPr lang="en-US" sz="1820" dirty="0"/>
          </a:p>
        </p:txBody>
      </p:sp>
      <p:sp>
        <p:nvSpPr>
          <p:cNvPr id="24" name="Shape 21"/>
          <p:cNvSpPr/>
          <p:nvPr/>
        </p:nvSpPr>
        <p:spPr>
          <a:xfrm>
            <a:off x="548640" y="5212080"/>
            <a:ext cx="11064240" cy="1097280"/>
          </a:xfrm>
          <a:prstGeom prst="roundRect">
            <a:avLst>
              <a:gd name="adj" fmla="val 8333"/>
            </a:avLst>
          </a:prstGeom>
          <a:solidFill>
            <a:srgbClr val="FFF7ED"/>
          </a:solidFill>
          <a:ln w="19050">
            <a:solidFill>
              <a:srgbClr val="B45309"/>
            </a:solidFill>
            <a:prstDash val="solid"/>
          </a:ln>
        </p:spPr>
      </p:sp>
      <p:sp>
        <p:nvSpPr>
          <p:cNvPr id="25" name="Text 22"/>
          <p:cNvSpPr/>
          <p:nvPr/>
        </p:nvSpPr>
        <p:spPr>
          <a:xfrm>
            <a:off x="777240" y="5212080"/>
            <a:ext cx="10607040" cy="1097280"/>
          </a:xfrm>
          <a:prstGeom prst="rect">
            <a:avLst/>
          </a:prstGeom>
          <a:noFill/>
          <a:ln/>
        </p:spPr>
        <p:txBody>
          <a:bodyPr wrap="square" lIns="0" tIns="0" rIns="0" bIns="0" rtlCol="0" anchor="ctr"/>
          <a:lstStyle/>
          <a:p>
            <a:pPr indent="0" marL="0">
              <a:buNone/>
            </a:pPr>
            <a:r>
              <a:rPr lang="en-US" sz="1690" dirty="0">
                <a:solidFill>
                  <a:srgbClr val="1F2937"/>
                </a:solidFill>
                <a:latin typeface="Calibri" pitchFamily="34" charset="0"/>
                <a:ea typeface="Calibri" pitchFamily="34" charset="-122"/>
                <a:cs typeface="Calibri" pitchFamily="34" charset="-120"/>
              </a:rPr>
              <a:t>Safety: catalogue text is fenced as untrusted data; instruction-like phrases (“ignore previous instructions…”) are neutralised and reported. With no LLM, rule-based heuristics reproduce every role from the audit.</a:t>
            </a:r>
            <a:endParaRPr lang="en-US" sz="16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Dataset: 7 domains, one schema each</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pic>
        <p:nvPicPr>
          <p:cNvPr id="8" name="Image 0" descr="chart_dataset.png">    </p:cNvPr>
          <p:cNvPicPr>
            <a:picLocks noChangeAspect="1"/>
          </p:cNvPicPr>
          <p:nvPr/>
        </p:nvPicPr>
        <p:blipFill>
          <a:blip r:embed="rId1"/>
          <a:stretch>
            <a:fillRect/>
          </a:stretch>
        </p:blipFill>
        <p:spPr>
          <a:xfrm>
            <a:off x="548640" y="1423700"/>
            <a:ext cx="6766560" cy="3461961"/>
          </a:xfrm>
          <a:prstGeom prst="rect">
            <a:avLst/>
          </a:prstGeom>
        </p:spPr>
      </p:pic>
      <p:sp>
        <p:nvSpPr>
          <p:cNvPr id="9" name="Text 5"/>
          <p:cNvSpPr/>
          <p:nvPr/>
        </p:nvSpPr>
        <p:spPr>
          <a:xfrm>
            <a:off x="7498080" y="1280160"/>
            <a:ext cx="4206240" cy="4937760"/>
          </a:xfrm>
          <a:prstGeom prst="rect">
            <a:avLst/>
          </a:prstGeom>
          <a:noFill/>
          <a:ln/>
        </p:spPr>
        <p:txBody>
          <a:bodyPr wrap="square" lIns="635" tIns="635" rIns="635" bIns="635" rtlCol="0" anchor="t"/>
          <a:lstStyle/>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Seven raw files in seven shapes: nested, pipe- or comma-delimited, PascalCase, price in lakhs</a:t>
            </a:r>
            <a:endParaRPr lang="en-US" sz="1820" dirty="0"/>
          </a:p>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Each adapter normalises to one Item and declares its numeric facets</a:t>
            </a:r>
            <a:endParaRPr lang="en-US" sz="1820" dirty="0"/>
          </a:p>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Synthetic items use invented brands and credits, and are flagged</a:t>
            </a:r>
            <a:endParaRPr lang="en-US" sz="1820" dirty="0"/>
          </a:p>
          <a:p>
            <a:pPr marL="203200" indent="-203200">
              <a:spcAft>
                <a:spcPts val="600"/>
              </a:spcAft>
              <a:buSzPct val="100000"/>
              <a:buChar char="•"/>
            </a:pPr>
            <a:r>
              <a:rPr lang="en-US" sz="1820" dirty="0">
                <a:solidFill>
                  <a:srgbClr val="1F2937"/>
                </a:solidFill>
                <a:latin typeface="Calibri" pitchFamily="34" charset="0"/>
                <a:ea typeface="Calibri" pitchFamily="34" charset="-122"/>
                <a:cs typeface="Calibri" pitchFamily="34" charset="-120"/>
              </a:rPr>
              <a:t>Quality claims use the 214 curated records only</a:t>
            </a:r>
            <a:endParaRPr lang="en-US" sz="1820" dirty="0"/>
          </a:p>
        </p:txBody>
      </p:sp>
      <p:sp>
        <p:nvSpPr>
          <p:cNvPr id="10" name="Text 6"/>
          <p:cNvSpPr/>
          <p:nvPr/>
        </p:nvSpPr>
        <p:spPr>
          <a:xfrm>
            <a:off x="548640" y="5257800"/>
            <a:ext cx="6766560" cy="548640"/>
          </a:xfrm>
          <a:prstGeom prst="rect">
            <a:avLst/>
          </a:prstGeom>
          <a:noFill/>
          <a:ln/>
        </p:spPr>
        <p:txBody>
          <a:bodyPr wrap="square" lIns="0" tIns="0" rIns="0" bIns="0" rtlCol="0" anchor="ctr"/>
          <a:lstStyle/>
          <a:p>
            <a:pPr indent="0" marL="0">
              <a:buNone/>
            </a:pPr>
            <a:r>
              <a:rPr lang="en-US" sz="1820" b="1" dirty="0">
                <a:solidFill>
                  <a:srgbClr val="1F3864"/>
                </a:solidFill>
                <a:latin typeface="Calibri" pitchFamily="34" charset="0"/>
                <a:ea typeface="Calibri" pitchFamily="34" charset="-122"/>
                <a:cs typeface="Calibri" pitchFamily="34" charset="-120"/>
              </a:rPr>
              <a:t>An eighth domain = one adapter file + one registry line.</a:t>
            </a:r>
            <a:endParaRPr lang="en-US" sz="1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Evaluation setup: five-condition ablation</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822960"/>
                <a:gridCol w="3657600"/>
                <a:gridCol w="914400"/>
                <a:gridCol w="1554480"/>
              </a:tblGrid>
              <a:tr h="0">
                <a:tc>
                  <a:txBody>
                    <a:bodyPr/>
                    <a:lstStyle/>
                    <a:p>
                      <a:pPr indent="0" marL="0">
                        <a:buNone/>
                      </a:pPr>
                      <a:r>
                        <a:rPr lang="en-US" sz="1690" b="1" dirty="0">
                          <a:solidFill>
                            <a:srgbClr val="FFFFFF"/>
                          </a:solidFill>
                          <a:latin typeface="Calibri" pitchFamily="34" charset="0"/>
                          <a:ea typeface="Calibri" pitchFamily="34" charset="-122"/>
                          <a:cs typeface="Calibri" pitchFamily="34" charset="-120"/>
                        </a:rPr>
                        <a:t>Cond.</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690" b="1" dirty="0">
                          <a:solidFill>
                            <a:srgbClr val="FFFFFF"/>
                          </a:solidFill>
                          <a:latin typeface="Calibri" pitchFamily="34" charset="0"/>
                          <a:ea typeface="Calibri" pitchFamily="34" charset="-122"/>
                          <a:cs typeface="Calibri" pitchFamily="34" charset="-120"/>
                        </a:rPr>
                        <a:t>Pipeline</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690" b="1" dirty="0">
                          <a:solidFill>
                            <a:srgbClr val="FFFFFF"/>
                          </a:solidFill>
                          <a:latin typeface="Calibri" pitchFamily="34" charset="0"/>
                          <a:ea typeface="Calibri" pitchFamily="34" charset="-122"/>
                          <a:cs typeface="Calibri" pitchFamily="34" charset="-120"/>
                        </a:rPr>
                        <a:t>Queries</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690" b="1" dirty="0">
                          <a:solidFill>
                            <a:srgbClr val="FFFFFF"/>
                          </a:solidFill>
                          <a:latin typeface="Calibri" pitchFamily="34" charset="0"/>
                          <a:ea typeface="Calibri" pitchFamily="34" charset="-122"/>
                          <a:cs typeface="Calibri" pitchFamily="34" charset="-120"/>
                        </a:rPr>
                        <a:t>LLM</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ctr" indent="0" marL="0">
                        <a:buNone/>
                      </a:pPr>
                      <a:r>
                        <a:rPr lang="en-US" sz="1690" b="1" dirty="0">
                          <a:solidFill>
                            <a:srgbClr val="1F2937"/>
                          </a:solidFill>
                          <a:latin typeface="Calibri" pitchFamily="34" charset="0"/>
                          <a:ea typeface="Calibri" pitchFamily="34" charset="-122"/>
                          <a:cs typeface="Calibri" pitchFamily="34" charset="-120"/>
                        </a:rPr>
                        <a:t>E0</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690" dirty="0">
                          <a:solidFill>
                            <a:srgbClr val="1F2937"/>
                          </a:solidFill>
                          <a:latin typeface="Calibri" pitchFamily="34" charset="0"/>
                          <a:ea typeface="Calibri" pitchFamily="34" charset="-122"/>
                          <a:cs typeface="Calibri" pitchFamily="34" charset="-120"/>
                        </a:rPr>
                        <a:t>Popularity only (ignores the query)</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21</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none</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ctr" indent="0" marL="0">
                        <a:buNone/>
                      </a:pPr>
                      <a:r>
                        <a:rPr lang="en-US" sz="1690" b="1" dirty="0">
                          <a:solidFill>
                            <a:srgbClr val="1F2937"/>
                          </a:solidFill>
                          <a:latin typeface="Calibri" pitchFamily="34" charset="0"/>
                          <a:ea typeface="Calibri" pitchFamily="34" charset="-122"/>
                          <a:cs typeface="Calibri" pitchFamily="34" charset="-120"/>
                        </a:rPr>
                        <a:t>E1</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690" dirty="0">
                          <a:solidFill>
                            <a:srgbClr val="1F2937"/>
                          </a:solidFill>
                          <a:latin typeface="Calibri" pitchFamily="34" charset="0"/>
                          <a:ea typeface="Calibri" pitchFamily="34" charset="-122"/>
                          <a:cs typeface="Calibri" pitchFamily="34" charset="-120"/>
                        </a:rPr>
                        <a:t>Hybrid retrieval only</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21</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none</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ctr" indent="0" marL="0">
                        <a:buNone/>
                      </a:pPr>
                      <a:r>
                        <a:rPr lang="en-US" sz="1690" b="1" dirty="0">
                          <a:solidFill>
                            <a:srgbClr val="1F2937"/>
                          </a:solidFill>
                          <a:latin typeface="Calibri" pitchFamily="34" charset="0"/>
                          <a:ea typeface="Calibri" pitchFamily="34" charset="-122"/>
                          <a:cs typeface="Calibri" pitchFamily="34" charset="-120"/>
                        </a:rPr>
                        <a:t>E2</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690" dirty="0">
                          <a:solidFill>
                            <a:srgbClr val="1F2937"/>
                          </a:solidFill>
                          <a:latin typeface="Calibri" pitchFamily="34" charset="0"/>
                          <a:ea typeface="Calibri" pitchFamily="34" charset="-122"/>
                          <a:cs typeface="Calibri" pitchFamily="34" charset="-120"/>
                        </a:rPr>
                        <a:t>Retrieval + Supporter</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8</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llama3.1:8b</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ctr" indent="0" marL="0">
                        <a:buNone/>
                      </a:pPr>
                      <a:r>
                        <a:rPr lang="en-US" sz="1690" b="1" dirty="0">
                          <a:solidFill>
                            <a:srgbClr val="1F2937"/>
                          </a:solidFill>
                          <a:latin typeface="Calibri" pitchFamily="34" charset="0"/>
                          <a:ea typeface="Calibri" pitchFamily="34" charset="-122"/>
                          <a:cs typeface="Calibri" pitchFamily="34" charset="-120"/>
                        </a:rPr>
                        <a:t>E3</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1690" dirty="0">
                          <a:solidFill>
                            <a:srgbClr val="1F2937"/>
                          </a:solidFill>
                          <a:latin typeface="Calibri" pitchFamily="34" charset="0"/>
                          <a:ea typeface="Calibri" pitchFamily="34" charset="-122"/>
                          <a:cs typeface="Calibri" pitchFamily="34" charset="-120"/>
                        </a:rPr>
                        <a:t>+ Critic</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8</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llama3.1:8b</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ctr" indent="0" marL="0">
                        <a:buNone/>
                      </a:pPr>
                      <a:r>
                        <a:rPr lang="en-US" sz="1690" b="1" dirty="0">
                          <a:solidFill>
                            <a:srgbClr val="1F2937"/>
                          </a:solidFill>
                          <a:latin typeface="Calibri" pitchFamily="34" charset="0"/>
                          <a:ea typeface="Calibri" pitchFamily="34" charset="-122"/>
                          <a:cs typeface="Calibri" pitchFamily="34" charset="-120"/>
                        </a:rPr>
                        <a:t>E4</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690" dirty="0">
                          <a:solidFill>
                            <a:srgbClr val="1F2937"/>
                          </a:solidFill>
                          <a:latin typeface="Calibri" pitchFamily="34" charset="0"/>
                          <a:ea typeface="Calibri" pitchFamily="34" charset="-122"/>
                          <a:cs typeface="Calibri" pitchFamily="34" charset="-120"/>
                        </a:rPr>
                        <a:t>Full debate: + Judge</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8</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690" dirty="0">
                          <a:solidFill>
                            <a:srgbClr val="1F2937"/>
                          </a:solidFill>
                          <a:latin typeface="Calibri" pitchFamily="34" charset="0"/>
                          <a:ea typeface="Calibri" pitchFamily="34" charset="-122"/>
                          <a:cs typeface="Calibri" pitchFamily="34" charset="-120"/>
                        </a:rPr>
                        <a:t>llama3.1:8b</a:t>
                      </a:r>
                      <a:endParaRPr lang="en-US" sz="169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Text 5"/>
          <p:cNvSpPr/>
          <p:nvPr/>
        </p:nvSpPr>
        <p:spPr>
          <a:xfrm>
            <a:off x="8366760" y="1280160"/>
            <a:ext cx="3383280" cy="5029200"/>
          </a:xfrm>
          <a:prstGeom prst="rect">
            <a:avLst/>
          </a:prstGeom>
          <a:noFill/>
          <a:ln/>
        </p:spPr>
        <p:txBody>
          <a:bodyPr wrap="square" lIns="635" tIns="635" rIns="635" bIns="635" rtlCol="0" anchor="t"/>
          <a:lstStyle/>
          <a:p>
            <a:pPr indent="0" marL="0">
              <a:spcAft>
                <a:spcPts val="600"/>
              </a:spcAft>
              <a:buNone/>
            </a:pPr>
            <a:r>
              <a:rPr lang="en-US" sz="1495" b="1" dirty="0">
                <a:solidFill>
                  <a:srgbClr val="1F2937"/>
                </a:solidFill>
                <a:latin typeface="Calibri" pitchFamily="34" charset="0"/>
                <a:ea typeface="Calibri" pitchFamily="34" charset="-122"/>
                <a:cs typeface="Calibri" pitchFamily="34" charset="-120"/>
              </a:rPr>
              <a:t>Metrics</a:t>
            </a:r>
            <a:endParaRPr lang="en-US" sz="1495" dirty="0"/>
          </a:p>
          <a:p>
            <a:pPr indent="0" marL="0">
              <a:spcAft>
                <a:spcPts val="600"/>
              </a:spcAft>
              <a:buNone/>
            </a:pPr>
            <a:r>
              <a:rPr lang="en-US" sz="1495" dirty="0">
                <a:solidFill>
                  <a:srgbClr val="1F2937"/>
                </a:solidFill>
                <a:latin typeface="Calibri" pitchFamily="34" charset="0"/>
                <a:ea typeface="Calibri" pitchFamily="34" charset="-122"/>
                <a:cs typeface="Calibri" pitchFamily="34" charset="-120"/>
              </a:rPr>
              <a:t>P@5, R@5, NDCG@5, MRR, hit@3, hard-violation rate, diversity, coverage, latency, LLM calls</a:t>
            </a:r>
            <a:endParaRPr lang="en-US" sz="1495" dirty="0"/>
          </a:p>
          <a:p>
            <a:pPr indent="0" marL="0">
              <a:spcAft>
                <a:spcPts val="600"/>
              </a:spcAft>
              <a:buNone/>
            </a:pPr>
            <a:r>
              <a:rPr lang="en-US" sz="1495" b="1" dirty="0">
                <a:solidFill>
                  <a:srgbClr val="1F2937"/>
                </a:solidFill>
                <a:latin typeface="Calibri" pitchFamily="34" charset="0"/>
                <a:ea typeface="Calibri" pitchFamily="34" charset="-122"/>
                <a:cs typeface="Calibri" pitchFamily="34" charset="-120"/>
              </a:rPr>
              <a:t>Stats</a:t>
            </a:r>
            <a:endParaRPr lang="en-US" sz="1495" dirty="0"/>
          </a:p>
          <a:p>
            <a:pPr indent="0" marL="0">
              <a:spcAft>
                <a:spcPts val="600"/>
              </a:spcAft>
              <a:buNone/>
            </a:pPr>
            <a:r>
              <a:rPr lang="en-US" sz="1495" dirty="0">
                <a:solidFill>
                  <a:srgbClr val="1F2937"/>
                </a:solidFill>
                <a:latin typeface="Calibri" pitchFamily="34" charset="0"/>
                <a:ea typeface="Calibri" pitchFamily="34" charset="-122"/>
                <a:cs typeface="Calibri" pitchFamily="34" charset="-120"/>
              </a:rPr>
              <a:t>Wilcoxon signed-rank + Cohen's d (E4 vs. E1) built into the harness</a:t>
            </a:r>
            <a:endParaRPr lang="en-US" sz="1495" dirty="0"/>
          </a:p>
          <a:p>
            <a:pPr indent="0" marL="0">
              <a:spcAft>
                <a:spcPts val="600"/>
              </a:spcAft>
              <a:buNone/>
            </a:pPr>
            <a:r>
              <a:rPr lang="en-US" sz="1495" b="1" dirty="0">
                <a:solidFill>
                  <a:srgbClr val="1F2937"/>
                </a:solidFill>
                <a:latin typeface="Calibri" pitchFamily="34" charset="0"/>
                <a:ea typeface="Calibri" pitchFamily="34" charset="-122"/>
                <a:cs typeface="Calibri" pitchFamily="34" charset="-120"/>
              </a:rPr>
              <a:t>Environment</a:t>
            </a:r>
            <a:endParaRPr lang="en-US" sz="1495" dirty="0"/>
          </a:p>
          <a:p>
            <a:pPr indent="0" marL="0">
              <a:spcAft>
                <a:spcPts val="600"/>
              </a:spcAft>
              <a:buNone/>
            </a:pPr>
            <a:r>
              <a:rPr lang="en-US" sz="1495" dirty="0">
                <a:solidFill>
                  <a:srgbClr val="1F2937"/>
                </a:solidFill>
                <a:latin typeface="Calibri" pitchFamily="34" charset="0"/>
                <a:ea typeface="Calibri" pitchFamily="34" charset="-122"/>
                <a:cs typeface="Calibri" pitchFamily="34" charset="-120"/>
              </a:rPr>
              <a:t>Ollama llama3.1:8b Q4_K_M, 8 GB laptop GPU; 5 candidates debated (default 8)</a:t>
            </a:r>
            <a:endParaRPr lang="en-US" sz="1495" dirty="0"/>
          </a:p>
          <a:p>
            <a:pPr indent="0" marL="0">
              <a:spcAft>
                <a:spcPts val="600"/>
              </a:spcAft>
              <a:buNone/>
            </a:pPr>
            <a:r>
              <a:rPr lang="en-US" sz="1495" b="1" dirty="0">
                <a:solidFill>
                  <a:srgbClr val="1F2937"/>
                </a:solidFill>
                <a:latin typeface="Calibri" pitchFamily="34" charset="0"/>
                <a:ea typeface="Calibri" pitchFamily="34" charset="-122"/>
                <a:cs typeface="Calibri" pitchFamily="34" charset="-120"/>
              </a:rPr>
              <a:t>Tests</a:t>
            </a:r>
            <a:endParaRPr lang="en-US" sz="1495" dirty="0"/>
          </a:p>
          <a:p>
            <a:pPr indent="0" marL="0">
              <a:spcAft>
                <a:spcPts val="600"/>
              </a:spcAft>
              <a:buNone/>
            </a:pPr>
            <a:r>
              <a:rPr lang="en-US" sz="1495" dirty="0">
                <a:solidFill>
                  <a:srgbClr val="1F2937"/>
                </a:solidFill>
                <a:latin typeface="Calibri" pitchFamily="34" charset="0"/>
                <a:ea typeface="Calibri" pitchFamily="34" charset="-122"/>
                <a:cs typeface="Calibri" pitchFamily="34" charset="-120"/>
              </a:rPr>
              <a:t>34 deterministic tests, 34/34 pass in 5.5 s</a:t>
            </a:r>
            <a:endParaRPr lang="en-US" sz="1495" dirty="0"/>
          </a:p>
        </p:txBody>
      </p:sp>
      <p:sp>
        <p:nvSpPr>
          <p:cNvPr id="10" name="Text 6"/>
          <p:cNvSpPr/>
          <p:nvPr/>
        </p:nvSpPr>
        <p:spPr>
          <a:xfrm>
            <a:off x="548640" y="4846320"/>
            <a:ext cx="7315200" cy="822960"/>
          </a:xfrm>
          <a:prstGeom prst="rect">
            <a:avLst/>
          </a:prstGeom>
          <a:noFill/>
          <a:ln/>
        </p:spPr>
        <p:txBody>
          <a:bodyPr wrap="square" lIns="0" tIns="0" rIns="0" bIns="0" rtlCol="0" anchor="t"/>
          <a:lstStyle/>
          <a:p>
            <a:pPr indent="0" marL="0">
              <a:buNone/>
            </a:pPr>
            <a:r>
              <a:rPr lang="en-US" sz="1820" dirty="0">
                <a:solidFill>
                  <a:srgbClr val="1F2937"/>
                </a:solidFill>
                <a:latin typeface="Calibri" pitchFamily="34" charset="0"/>
                <a:ea typeface="Calibri" pitchFamily="34" charset="-122"/>
                <a:cs typeface="Calibri" pitchFamily="34" charset="-120"/>
              </a:rPr>
              <a:t>Hand-labelled queries: 21 queries, all 7 domains, graded relevance, curated pool.</a:t>
            </a:r>
            <a:endParaRPr lang="en-US" sz="1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Results: retrieval does the heavy lifting</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pic>
        <p:nvPicPr>
          <p:cNvPr id="8" name="Image 0" descr="chart_ablation.png">    </p:cNvPr>
          <p:cNvPicPr>
            <a:picLocks noChangeAspect="1"/>
          </p:cNvPicPr>
          <p:nvPr/>
        </p:nvPicPr>
        <p:blipFill>
          <a:blip r:embed="rId1"/>
          <a:stretch>
            <a:fillRect/>
          </a:stretch>
        </p:blipFill>
        <p:spPr>
          <a:xfrm>
            <a:off x="548640" y="1368629"/>
            <a:ext cx="6858000" cy="3663542"/>
          </a:xfrm>
          <a:prstGeom prst="rect">
            <a:avLst/>
          </a:prstGeom>
        </p:spPr>
      </p:pic>
      <p:sp>
        <p:nvSpPr>
          <p:cNvPr id="9" name="Text 5"/>
          <p:cNvSpPr/>
          <p:nvPr/>
        </p:nvSpPr>
        <p:spPr>
          <a:xfrm>
            <a:off x="7589520" y="1280160"/>
            <a:ext cx="4114800" cy="4023360"/>
          </a:xfrm>
          <a:prstGeom prst="rect">
            <a:avLst/>
          </a:prstGeom>
          <a:noFill/>
          <a:ln/>
        </p:spPr>
        <p:txBody>
          <a:bodyPr wrap="square" lIns="635" tIns="635" rIns="635" bIns="635" rtlCol="0" anchor="t"/>
          <a:lstStyle/>
          <a:p>
            <a:pPr indent="0" marL="0">
              <a:spcAft>
                <a:spcPts val="600"/>
              </a:spcAft>
              <a:buNone/>
            </a:pPr>
            <a:r>
              <a:rPr lang="en-US" sz="1885" b="1" dirty="0">
                <a:solidFill>
                  <a:srgbClr val="1F2937"/>
                </a:solidFill>
                <a:latin typeface="Calibri" pitchFamily="34" charset="0"/>
                <a:ea typeface="Calibri" pitchFamily="34" charset="-122"/>
                <a:cs typeface="Calibri" pitchFamily="34" charset="-120"/>
              </a:rPr>
              <a:t>NDCG@5: 0.194 → 0.720</a:t>
            </a:r>
            <a:endParaRPr lang="en-US" sz="1885" dirty="0"/>
          </a:p>
          <a:p>
            <a:pPr indent="0" marL="0">
              <a:spcAft>
                <a:spcPts val="600"/>
              </a:spcAft>
              <a:buNone/>
            </a:pPr>
            <a:r>
              <a:rPr lang="en-US" sz="1885" dirty="0">
                <a:solidFill>
                  <a:srgbClr val="1F2937"/>
                </a:solidFill>
                <a:latin typeface="Calibri" pitchFamily="34" charset="0"/>
                <a:ea typeface="Calibri" pitchFamily="34" charset="-122"/>
                <a:cs typeface="Calibri" pitchFamily="34" charset="-120"/>
              </a:rPr>
              <a:t>constraint-aware retrieval vs. popularity</a:t>
            </a:r>
            <a:endParaRPr lang="en-US" sz="1885" dirty="0"/>
          </a:p>
          <a:p>
            <a:pPr indent="0" marL="0">
              <a:spcAft>
                <a:spcPts val="600"/>
              </a:spcAft>
              <a:buNone/>
            </a:pPr>
            <a:r>
              <a:rPr lang="en-US" sz="1885" b="1" dirty="0">
                <a:solidFill>
                  <a:srgbClr val="1F2937"/>
                </a:solidFill>
                <a:latin typeface="Calibri" pitchFamily="34" charset="0"/>
                <a:ea typeface="Calibri" pitchFamily="34" charset="-122"/>
                <a:cs typeface="Calibri" pitchFamily="34" charset="-120"/>
              </a:rPr>
              <a:t>Hard violations: 0.000</a:t>
            </a:r>
            <a:endParaRPr lang="en-US" sz="1885" dirty="0"/>
          </a:p>
          <a:p>
            <a:pPr indent="0" marL="0">
              <a:spcAft>
                <a:spcPts val="600"/>
              </a:spcAft>
              <a:buNone/>
            </a:pPr>
            <a:r>
              <a:rPr lang="en-US" sz="1885" dirty="0">
                <a:solidFill>
                  <a:srgbClr val="1F2937"/>
                </a:solidFill>
                <a:latin typeface="Calibri" pitchFamily="34" charset="0"/>
                <a:ea typeface="Calibri" pitchFamily="34" charset="-122"/>
                <a:cs typeface="Calibri" pitchFamily="34" charset="-120"/>
              </a:rPr>
              <a:t>in every condition</a:t>
            </a:r>
            <a:endParaRPr lang="en-US" sz="1885" dirty="0"/>
          </a:p>
          <a:p>
            <a:pPr indent="0" marL="0">
              <a:spcAft>
                <a:spcPts val="600"/>
              </a:spcAft>
              <a:buNone/>
            </a:pPr>
            <a:r>
              <a:rPr lang="en-US" sz="1885" b="1" dirty="0">
                <a:solidFill>
                  <a:srgbClr val="1F2937"/>
                </a:solidFill>
                <a:latin typeface="Calibri" pitchFamily="34" charset="0"/>
                <a:ea typeface="Calibri" pitchFamily="34" charset="-122"/>
                <a:cs typeface="Calibri" pitchFamily="34" charset="-120"/>
              </a:rPr>
              <a:t>Debate stages: inconclusive</a:t>
            </a:r>
            <a:endParaRPr lang="en-US" sz="1885" dirty="0"/>
          </a:p>
          <a:p>
            <a:pPr indent="0" marL="0">
              <a:spcAft>
                <a:spcPts val="600"/>
              </a:spcAft>
              <a:buNone/>
            </a:pPr>
            <a:r>
              <a:rPr lang="en-US" sz="1885" dirty="0">
                <a:solidFill>
                  <a:srgbClr val="1F2937"/>
                </a:solidFill>
                <a:latin typeface="Calibri" pitchFamily="34" charset="0"/>
                <a:ea typeface="Calibri" pitchFamily="34" charset="-122"/>
                <a:cs typeface="Calibri" pitchFamily="34" charset="-120"/>
              </a:rPr>
              <a:t>E4 0.665 vs. E1 0.720 on 8 queries; two runs differed by up to 0.11</a:t>
            </a:r>
            <a:endParaRPr lang="en-US" sz="1885" dirty="0"/>
          </a:p>
        </p:txBody>
      </p:sp>
      <p:sp>
        <p:nvSpPr>
          <p:cNvPr id="10" name="Text 6"/>
          <p:cNvSpPr/>
          <p:nvPr/>
        </p:nvSpPr>
        <p:spPr>
          <a:xfrm>
            <a:off x="548640" y="5394960"/>
            <a:ext cx="11064240" cy="822960"/>
          </a:xfrm>
          <a:prstGeom prst="rect">
            <a:avLst/>
          </a:prstGeom>
          <a:noFill/>
          <a:ln/>
        </p:spPr>
        <p:txBody>
          <a:bodyPr wrap="square" lIns="0" tIns="0" rIns="0" bIns="0" rtlCol="0" anchor="ctr"/>
          <a:lstStyle/>
          <a:p>
            <a:pPr indent="0" marL="0">
              <a:buNone/>
            </a:pPr>
            <a:r>
              <a:rPr lang="en-US" sz="1820" i="1" dirty="0">
                <a:solidFill>
                  <a:srgbClr val="B91C1C"/>
                </a:solidFill>
                <a:latin typeface="Calibri" pitchFamily="34" charset="0"/>
                <a:ea typeface="Calibri" pitchFamily="34" charset="-122"/>
                <a:cs typeface="Calibri" pitchFamily="34" charset="-120"/>
              </a:rPr>
              <a:t>E1 and E2-E4 differ in query count and shortlist width, so this is not yet a paired comparison.</a:t>
            </a:r>
            <a:endParaRPr lang="en-US" sz="1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Cost: each agent adds calls and seconds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pic>
        <p:nvPicPr>
          <p:cNvPr id="8" name="Image 0" descr="chart_cost.png">    </p:cNvPr>
          <p:cNvPicPr>
            <a:picLocks noChangeAspect="1"/>
          </p:cNvPicPr>
          <p:nvPr/>
        </p:nvPicPr>
        <p:blipFill>
          <a:blip r:embed="rId1"/>
          <a:stretch>
            <a:fillRect/>
          </a:stretch>
        </p:blipFill>
        <p:spPr>
          <a:xfrm>
            <a:off x="548640" y="1310239"/>
            <a:ext cx="6035040" cy="3414562"/>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949440" y="1371600"/>
          <a:ext cx="4572000" cy="914400"/>
        </p:xfrm>
        <a:graphic>
          <a:graphicData uri="http://schemas.openxmlformats.org/drawingml/2006/table">
            <a:tbl>
              <a:tblPr/>
              <a:tblGrid>
                <a:gridCol w="822960"/>
                <a:gridCol w="1371600"/>
                <a:gridCol w="1097280"/>
                <a:gridCol w="1280160"/>
              </a:tblGrid>
              <a:tr h="0">
                <a:tc>
                  <a:txBody>
                    <a:bodyPr/>
                    <a:lstStyle/>
                    <a:p>
                      <a:pPr indent="0" marL="0">
                        <a:buNone/>
                      </a:pPr>
                      <a:r>
                        <a:rPr lang="en-US" sz="1820" b="1" dirty="0">
                          <a:solidFill>
                            <a:srgbClr val="FFFFFF"/>
                          </a:solidFill>
                          <a:latin typeface="Calibri" pitchFamily="34" charset="0"/>
                          <a:ea typeface="Calibri" pitchFamily="34" charset="-122"/>
                          <a:cs typeface="Calibri" pitchFamily="34" charset="-120"/>
                        </a:rPr>
                        <a:t>Cond.</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20" b="1" dirty="0">
                          <a:solidFill>
                            <a:srgbClr val="FFFFFF"/>
                          </a:solidFill>
                          <a:latin typeface="Calibri" pitchFamily="34" charset="0"/>
                          <a:ea typeface="Calibri" pitchFamily="34" charset="-122"/>
                          <a:cs typeface="Calibri" pitchFamily="34" charset="-120"/>
                        </a:rPr>
                        <a:t>Calls / query</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20" b="1" dirty="0">
                          <a:solidFill>
                            <a:srgbClr val="FFFFFF"/>
                          </a:solidFill>
                          <a:latin typeface="Calibri" pitchFamily="34" charset="0"/>
                          <a:ea typeface="Calibri" pitchFamily="34" charset="-122"/>
                          <a:cs typeface="Calibri" pitchFamily="34" charset="-120"/>
                        </a:rPr>
                        <a:t>Seconds</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1820" b="1" dirty="0">
                          <a:solidFill>
                            <a:srgbClr val="FFFFFF"/>
                          </a:solidFill>
                          <a:latin typeface="Calibri" pitchFamily="34" charset="0"/>
                          <a:ea typeface="Calibri" pitchFamily="34" charset="-122"/>
                          <a:cs typeface="Calibri" pitchFamily="34" charset="-120"/>
                        </a:rPr>
                        <a:t>Total calls</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ctr" indent="0" marL="0">
                        <a:buNone/>
                      </a:pPr>
                      <a:r>
                        <a:rPr lang="en-US" sz="1820" b="1" dirty="0">
                          <a:solidFill>
                            <a:srgbClr val="1F2937"/>
                          </a:solidFill>
                          <a:latin typeface="Calibri" pitchFamily="34" charset="0"/>
                          <a:ea typeface="Calibri" pitchFamily="34" charset="-122"/>
                          <a:cs typeface="Calibri" pitchFamily="34" charset="-120"/>
                        </a:rPr>
                        <a:t>E2</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6</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33.5</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48</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ctr" indent="0" marL="0">
                        <a:buNone/>
                      </a:pPr>
                      <a:r>
                        <a:rPr lang="en-US" sz="1820" b="1" dirty="0">
                          <a:solidFill>
                            <a:srgbClr val="1F2937"/>
                          </a:solidFill>
                          <a:latin typeface="Calibri" pitchFamily="34" charset="0"/>
                          <a:ea typeface="Calibri" pitchFamily="34" charset="-122"/>
                          <a:cs typeface="Calibri" pitchFamily="34" charset="-120"/>
                        </a:rPr>
                        <a:t>E3</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11</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66.7</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88</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ctr" indent="0" marL="0">
                        <a:buNone/>
                      </a:pPr>
                      <a:r>
                        <a:rPr lang="en-US" sz="1820" b="1" dirty="0">
                          <a:solidFill>
                            <a:srgbClr val="1F2937"/>
                          </a:solidFill>
                          <a:latin typeface="Calibri" pitchFamily="34" charset="0"/>
                          <a:ea typeface="Calibri" pitchFamily="34" charset="-122"/>
                          <a:cs typeface="Calibri" pitchFamily="34" charset="-120"/>
                        </a:rPr>
                        <a:t>E4</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16</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96.2</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820" dirty="0">
                          <a:solidFill>
                            <a:srgbClr val="1F2937"/>
                          </a:solidFill>
                          <a:latin typeface="Calibri" pitchFamily="34" charset="0"/>
                          <a:ea typeface="Calibri" pitchFamily="34" charset="-122"/>
                          <a:cs typeface="Calibri" pitchFamily="34" charset="-120"/>
                        </a:rPr>
                        <a:t>128</a:t>
                      </a:r>
                      <a:endParaRPr lang="en-US" sz="182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Text 5"/>
          <p:cNvSpPr/>
          <p:nvPr/>
        </p:nvSpPr>
        <p:spPr>
          <a:xfrm>
            <a:off x="6949440" y="3840480"/>
            <a:ext cx="4754880" cy="731520"/>
          </a:xfrm>
          <a:prstGeom prst="rect">
            <a:avLst/>
          </a:prstGeom>
          <a:noFill/>
          <a:ln/>
        </p:spPr>
        <p:txBody>
          <a:bodyPr wrap="square" lIns="0" tIns="0" rIns="0" bIns="0" rtlCol="0" anchor="ctr"/>
          <a:lstStyle/>
          <a:p>
            <a:pPr indent="0" marL="0">
              <a:buNone/>
            </a:pPr>
            <a:r>
              <a:rPr lang="en-US" sz="1820" b="1" dirty="0">
                <a:solidFill>
                  <a:srgbClr val="1F3864"/>
                </a:solidFill>
                <a:latin typeface="Calibri" pitchFamily="34" charset="0"/>
                <a:ea typeface="Calibri" pitchFamily="34" charset="-122"/>
                <a:cs typeface="Calibri" pitchFamily="34" charset="-120"/>
              </a:rPr>
              <a:t>Retrieval alone: about 0.01 s per query, no LLM.</a:t>
            </a:r>
            <a:endParaRPr lang="en-US" sz="1820" dirty="0"/>
          </a:p>
        </p:txBody>
      </p:sp>
      <p:sp>
        <p:nvSpPr>
          <p:cNvPr id="11" name="Text 6"/>
          <p:cNvSpPr/>
          <p:nvPr/>
        </p:nvSpPr>
        <p:spPr>
          <a:xfrm>
            <a:off x="548640" y="5120640"/>
            <a:ext cx="11064240" cy="914400"/>
          </a:xfrm>
          <a:prstGeom prst="rect">
            <a:avLst/>
          </a:prstGeom>
          <a:noFill/>
          <a:ln/>
        </p:spPr>
        <p:txBody>
          <a:bodyPr wrap="square" lIns="0" tIns="0" rIns="0" bIns="0" rtlCol="0" anchor="t"/>
          <a:lstStyle/>
          <a:p>
            <a:pPr indent="0" marL="0">
              <a:buNone/>
            </a:pPr>
            <a:r>
              <a:rPr lang="en-US" sz="1690" i="1" dirty="0">
                <a:solidFill>
                  <a:srgbClr val="64748B"/>
                </a:solidFill>
                <a:latin typeface="Calibri" pitchFamily="34" charset="0"/>
                <a:ea typeface="Calibri" pitchFamily="34" charset="-122"/>
                <a:cs typeface="Calibri" pitchFamily="34" charset="-120"/>
              </a:rPr>
              <a:t>Call counts recovered from successive differences: the harness's counter is cumulative across a run, a limitation we found and report.</a:t>
            </a:r>
            <a:endParaRPr lang="en-US" sz="16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Case study: the Critic catches an overstated claim</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8" name="Text 5"/>
          <p:cNvSpPr/>
          <p:nvPr/>
        </p:nvSpPr>
        <p:spPr>
          <a:xfrm>
            <a:off x="548640" y="1143000"/>
            <a:ext cx="11064240" cy="777240"/>
          </a:xfrm>
          <a:prstGeom prst="rect">
            <a:avLst/>
          </a:prstGeom>
          <a:noFill/>
          <a:ln/>
        </p:spPr>
        <p:txBody>
          <a:bodyPr wrap="square" lIns="0" tIns="0" rIns="0" bIns="0" rtlCol="0" anchor="ctr"/>
          <a:lstStyle/>
          <a:p>
            <a:pPr indent="0" marL="0">
              <a:buNone/>
            </a:pPr>
            <a:r>
              <a:rPr lang="en-US" sz="1820" i="1" dirty="0">
                <a:solidFill>
                  <a:srgbClr val="1F2937"/>
                </a:solidFill>
                <a:latin typeface="Calibri" pitchFamily="34" charset="0"/>
                <a:ea typeface="Calibri" pitchFamily="34" charset="-122"/>
                <a:cs typeface="Calibri" pitchFamily="34" charset="-120"/>
              </a:rPr>
              <a:t>“I want a funny science-fiction movie from after 2015, preferably under two hours”  →  Spider-Man: No Way Home (148 min)</a:t>
            </a:r>
            <a:endParaRPr lang="en-US" sz="1820" dirty="0"/>
          </a:p>
        </p:txBody>
      </p:sp>
      <p:sp>
        <p:nvSpPr>
          <p:cNvPr id="9" name="Shape 6"/>
          <p:cNvSpPr/>
          <p:nvPr/>
        </p:nvSpPr>
        <p:spPr>
          <a:xfrm>
            <a:off x="548640" y="2057400"/>
            <a:ext cx="3566160" cy="3200400"/>
          </a:xfrm>
          <a:prstGeom prst="roundRect">
            <a:avLst>
              <a:gd name="adj" fmla="val 2857"/>
            </a:avLst>
          </a:prstGeom>
          <a:solidFill>
            <a:srgbClr val="FFFFFF"/>
          </a:solidFill>
          <a:ln w="19050">
            <a:solidFill>
              <a:srgbClr val="15803D"/>
            </a:solidFill>
            <a:prstDash val="solid"/>
          </a:ln>
        </p:spPr>
      </p:sp>
      <p:sp>
        <p:nvSpPr>
          <p:cNvPr id="10" name="Shape 7"/>
          <p:cNvSpPr/>
          <p:nvPr/>
        </p:nvSpPr>
        <p:spPr>
          <a:xfrm>
            <a:off x="548640" y="2148840"/>
            <a:ext cx="82296" cy="3017520"/>
          </a:xfrm>
          <a:prstGeom prst="rect">
            <a:avLst/>
          </a:prstGeom>
          <a:solidFill>
            <a:srgbClr val="15803D"/>
          </a:solidFill>
          <a:ln w="12700">
            <a:solidFill>
              <a:srgbClr val="15803D"/>
            </a:solidFill>
            <a:prstDash val="solid"/>
          </a:ln>
        </p:spPr>
      </p:sp>
      <p:sp>
        <p:nvSpPr>
          <p:cNvPr id="11" name="Text 8"/>
          <p:cNvSpPr/>
          <p:nvPr/>
        </p:nvSpPr>
        <p:spPr>
          <a:xfrm>
            <a:off x="777240" y="2148840"/>
            <a:ext cx="3200400" cy="411480"/>
          </a:xfrm>
          <a:prstGeom prst="rect">
            <a:avLst/>
          </a:prstGeom>
          <a:noFill/>
          <a:ln/>
        </p:spPr>
        <p:txBody>
          <a:bodyPr wrap="square" lIns="0" tIns="0" rIns="0" bIns="0" rtlCol="0" anchor="ctr"/>
          <a:lstStyle/>
          <a:p>
            <a:pPr indent="0" marL="0">
              <a:buNone/>
            </a:pPr>
            <a:r>
              <a:rPr lang="en-US" sz="2405" b="1" dirty="0">
                <a:solidFill>
                  <a:srgbClr val="15803D"/>
                </a:solidFill>
                <a:latin typeface="Calibri" pitchFamily="34" charset="0"/>
                <a:ea typeface="Calibri" pitchFamily="34" charset="-122"/>
                <a:cs typeface="Calibri" pitchFamily="34" charset="-120"/>
              </a:rPr>
              <a:t>Supporter  6.0 / 10</a:t>
            </a:r>
            <a:endParaRPr lang="en-US" sz="2405" dirty="0"/>
          </a:p>
        </p:txBody>
      </p:sp>
      <p:sp>
        <p:nvSpPr>
          <p:cNvPr id="12" name="Text 9"/>
          <p:cNvSpPr/>
          <p:nvPr/>
        </p:nvSpPr>
        <p:spPr>
          <a:xfrm>
            <a:off x="777240" y="2606040"/>
            <a:ext cx="3154680" cy="2560320"/>
          </a:xfrm>
          <a:prstGeom prst="rect">
            <a:avLst/>
          </a:prstGeom>
          <a:noFill/>
          <a:ln/>
        </p:spPr>
        <p:txBody>
          <a:bodyPr wrap="square" lIns="0" tIns="0" rIns="0" bIns="0" rtlCol="0" anchor="t"/>
          <a:lstStyle/>
          <a:p>
            <a:pPr indent="0" marL="0">
              <a:buNone/>
            </a:pPr>
            <a:r>
              <a:rPr lang="en-US" sz="2015" dirty="0">
                <a:solidFill>
                  <a:srgbClr val="1F2937"/>
                </a:solidFill>
                <a:latin typeface="Calibri" pitchFamily="34" charset="0"/>
                <a:ea typeface="Calibri" pitchFamily="34" charset="-122"/>
                <a:cs typeface="Calibri" pitchFamily="34" charset="-120"/>
              </a:rPr>
              <a:t>“It is a science fiction movie, which matches your preferred genre.”</a:t>
            </a:r>
            <a:endParaRPr lang="en-US" sz="2015" dirty="0"/>
          </a:p>
          <a:p>
            <a:pPr indent="0" marL="0">
              <a:buNone/>
            </a:pPr>
            <a:r>
              <a:rPr lang="en-US" sz="2015" dirty="0">
                <a:solidFill>
                  <a:srgbClr val="1F2937"/>
                </a:solidFill>
                <a:latin typeface="Calibri" pitchFamily="34" charset="0"/>
                <a:ea typeface="Calibri" pitchFamily="34" charset="-122"/>
                <a:cs typeface="Calibri" pitchFamily="34" charset="-120"/>
              </a:rPr>
              <a:t>“The film has a funny tone, satisfying your soft preference.”</a:t>
            </a:r>
            <a:endParaRPr lang="en-US" sz="2015" dirty="0"/>
          </a:p>
        </p:txBody>
      </p:sp>
      <p:sp>
        <p:nvSpPr>
          <p:cNvPr id="13" name="Shape 10"/>
          <p:cNvSpPr/>
          <p:nvPr/>
        </p:nvSpPr>
        <p:spPr>
          <a:xfrm>
            <a:off x="4297680" y="2057400"/>
            <a:ext cx="3566160" cy="3200400"/>
          </a:xfrm>
          <a:prstGeom prst="roundRect">
            <a:avLst>
              <a:gd name="adj" fmla="val 2857"/>
            </a:avLst>
          </a:prstGeom>
          <a:solidFill>
            <a:srgbClr val="FFFFFF"/>
          </a:solidFill>
          <a:ln w="19050">
            <a:solidFill>
              <a:srgbClr val="B91C1C"/>
            </a:solidFill>
            <a:prstDash val="solid"/>
          </a:ln>
        </p:spPr>
      </p:sp>
      <p:sp>
        <p:nvSpPr>
          <p:cNvPr id="14" name="Shape 11"/>
          <p:cNvSpPr/>
          <p:nvPr/>
        </p:nvSpPr>
        <p:spPr>
          <a:xfrm>
            <a:off x="4297680" y="2148840"/>
            <a:ext cx="82296" cy="3017520"/>
          </a:xfrm>
          <a:prstGeom prst="rect">
            <a:avLst/>
          </a:prstGeom>
          <a:solidFill>
            <a:srgbClr val="B91C1C"/>
          </a:solidFill>
          <a:ln w="12700">
            <a:solidFill>
              <a:srgbClr val="B91C1C"/>
            </a:solidFill>
            <a:prstDash val="solid"/>
          </a:ln>
        </p:spPr>
      </p:sp>
      <p:sp>
        <p:nvSpPr>
          <p:cNvPr id="15" name="Text 12"/>
          <p:cNvSpPr/>
          <p:nvPr/>
        </p:nvSpPr>
        <p:spPr>
          <a:xfrm>
            <a:off x="4526280" y="2148840"/>
            <a:ext cx="3200400" cy="411480"/>
          </a:xfrm>
          <a:prstGeom prst="rect">
            <a:avLst/>
          </a:prstGeom>
          <a:noFill/>
          <a:ln/>
        </p:spPr>
        <p:txBody>
          <a:bodyPr wrap="square" lIns="0" tIns="0" rIns="0" bIns="0" rtlCol="0" anchor="ctr"/>
          <a:lstStyle/>
          <a:p>
            <a:pPr indent="0" marL="0">
              <a:buNone/>
            </a:pPr>
            <a:r>
              <a:rPr lang="en-US" sz="2405" b="1" dirty="0">
                <a:solidFill>
                  <a:srgbClr val="B91C1C"/>
                </a:solidFill>
                <a:latin typeface="Calibri" pitchFamily="34" charset="0"/>
                <a:ea typeface="Calibri" pitchFamily="34" charset="-122"/>
                <a:cs typeface="Calibri" pitchFamily="34" charset="-120"/>
              </a:rPr>
              <a:t>Critic  4.0 / 10</a:t>
            </a:r>
            <a:endParaRPr lang="en-US" sz="2405" dirty="0"/>
          </a:p>
        </p:txBody>
      </p:sp>
      <p:sp>
        <p:nvSpPr>
          <p:cNvPr id="16" name="Text 13"/>
          <p:cNvSpPr/>
          <p:nvPr/>
        </p:nvSpPr>
        <p:spPr>
          <a:xfrm>
            <a:off x="4526280" y="2606040"/>
            <a:ext cx="3154680" cy="2560320"/>
          </a:xfrm>
          <a:prstGeom prst="rect">
            <a:avLst/>
          </a:prstGeom>
          <a:noFill/>
          <a:ln/>
        </p:spPr>
        <p:txBody>
          <a:bodyPr wrap="square" lIns="0" tIns="0" rIns="0" bIns="0" rtlCol="0" anchor="t"/>
          <a:lstStyle/>
          <a:p>
            <a:pPr indent="0" marL="0">
              <a:buNone/>
            </a:pPr>
            <a:r>
              <a:rPr lang="en-US" sz="2015" dirty="0">
                <a:solidFill>
                  <a:srgbClr val="1F2937"/>
                </a:solidFill>
                <a:latin typeface="Calibri" pitchFamily="34" charset="0"/>
                <a:ea typeface="Calibri" pitchFamily="34" charset="-122"/>
                <a:cs typeface="Calibri" pitchFamily="34" charset="-120"/>
              </a:rPr>
              <a:t>“FAILs runtime constraint (148 minutes exceeds 120).”</a:t>
            </a:r>
            <a:endParaRPr lang="en-US" sz="2015" dirty="0"/>
          </a:p>
          <a:p>
            <a:pPr indent="0" marL="0">
              <a:buNone/>
            </a:pPr>
            <a:r>
              <a:rPr lang="en-US" sz="2015" dirty="0">
                <a:solidFill>
                  <a:srgbClr val="1F2937"/>
                </a:solidFill>
                <a:latin typeface="Calibri" pitchFamily="34" charset="0"/>
                <a:ea typeface="Calibri" pitchFamily="34" charset="-122"/>
                <a:cs typeface="Calibri" pitchFamily="34" charset="-120"/>
              </a:rPr>
              <a:t>Flags the Supporter: the data lists several genres, “only one of them is Science Fiction.”</a:t>
            </a:r>
            <a:endParaRPr lang="en-US" sz="2015" dirty="0"/>
          </a:p>
        </p:txBody>
      </p:sp>
      <p:sp>
        <p:nvSpPr>
          <p:cNvPr id="17" name="Shape 14"/>
          <p:cNvSpPr/>
          <p:nvPr/>
        </p:nvSpPr>
        <p:spPr>
          <a:xfrm>
            <a:off x="8046720" y="2057400"/>
            <a:ext cx="3566160" cy="3200400"/>
          </a:xfrm>
          <a:prstGeom prst="roundRect">
            <a:avLst>
              <a:gd name="adj" fmla="val 2857"/>
            </a:avLst>
          </a:prstGeom>
          <a:solidFill>
            <a:srgbClr val="FFFFFF"/>
          </a:solidFill>
          <a:ln w="19050">
            <a:solidFill>
              <a:srgbClr val="1F3864"/>
            </a:solidFill>
            <a:prstDash val="solid"/>
          </a:ln>
        </p:spPr>
      </p:sp>
      <p:sp>
        <p:nvSpPr>
          <p:cNvPr id="18" name="Shape 15"/>
          <p:cNvSpPr/>
          <p:nvPr/>
        </p:nvSpPr>
        <p:spPr>
          <a:xfrm>
            <a:off x="8046720" y="2148840"/>
            <a:ext cx="82296" cy="3017520"/>
          </a:xfrm>
          <a:prstGeom prst="rect">
            <a:avLst/>
          </a:prstGeom>
          <a:solidFill>
            <a:srgbClr val="1F3864"/>
          </a:solidFill>
          <a:ln w="12700">
            <a:solidFill>
              <a:srgbClr val="1F3864"/>
            </a:solidFill>
            <a:prstDash val="solid"/>
          </a:ln>
        </p:spPr>
      </p:sp>
      <p:sp>
        <p:nvSpPr>
          <p:cNvPr id="19" name="Text 16"/>
          <p:cNvSpPr/>
          <p:nvPr/>
        </p:nvSpPr>
        <p:spPr>
          <a:xfrm>
            <a:off x="8275320" y="2148840"/>
            <a:ext cx="3200400" cy="411480"/>
          </a:xfrm>
          <a:prstGeom prst="rect">
            <a:avLst/>
          </a:prstGeom>
          <a:noFill/>
          <a:ln/>
        </p:spPr>
        <p:txBody>
          <a:bodyPr wrap="square" lIns="0" tIns="0" rIns="0" bIns="0" rtlCol="0" anchor="ctr"/>
          <a:lstStyle/>
          <a:p>
            <a:pPr indent="0" marL="0">
              <a:buNone/>
            </a:pPr>
            <a:r>
              <a:rPr lang="en-US" sz="2405" b="1" dirty="0">
                <a:solidFill>
                  <a:srgbClr val="1F3864"/>
                </a:solidFill>
                <a:latin typeface="Calibri" pitchFamily="34" charset="0"/>
                <a:ea typeface="Calibri" pitchFamily="34" charset="-122"/>
                <a:cs typeface="Calibri" pitchFamily="34" charset="-120"/>
              </a:rPr>
              <a:t>Judge  0.3 / 10</a:t>
            </a:r>
            <a:endParaRPr lang="en-US" sz="2405" dirty="0"/>
          </a:p>
        </p:txBody>
      </p:sp>
      <p:sp>
        <p:nvSpPr>
          <p:cNvPr id="20" name="Text 17"/>
          <p:cNvSpPr/>
          <p:nvPr/>
        </p:nvSpPr>
        <p:spPr>
          <a:xfrm>
            <a:off x="8275320" y="2606040"/>
            <a:ext cx="3154680" cy="2560320"/>
          </a:xfrm>
          <a:prstGeom prst="rect">
            <a:avLst/>
          </a:prstGeom>
          <a:noFill/>
          <a:ln/>
        </p:spPr>
        <p:txBody>
          <a:bodyPr wrap="square" lIns="0" tIns="0" rIns="0" bIns="0" rtlCol="0" anchor="t"/>
          <a:lstStyle/>
          <a:p>
            <a:pPr indent="0" marL="0">
              <a:buNone/>
            </a:pPr>
            <a:r>
              <a:rPr lang="en-US" sz="2015" dirty="0">
                <a:solidFill>
                  <a:srgbClr val="1F2937"/>
                </a:solidFill>
                <a:latin typeface="Calibri" pitchFamily="34" charset="0"/>
                <a:ea typeface="Calibri" pitchFamily="34" charset="-122"/>
                <a:cs typeface="Calibri" pitchFamily="34" charset="-120"/>
              </a:rPr>
              <a:t>Decision: consider (confidence 0.6).</a:t>
            </a:r>
            <a:endParaRPr lang="en-US" sz="2015" dirty="0"/>
          </a:p>
          <a:p>
            <a:pPr indent="0" marL="0">
              <a:buNone/>
            </a:pPr>
            <a:r>
              <a:rPr lang="en-US" sz="2015" dirty="0">
                <a:solidFill>
                  <a:srgbClr val="1F2937"/>
                </a:solidFill>
                <a:latin typeface="Calibri" pitchFamily="34" charset="0"/>
                <a:ea typeface="Calibri" pitchFamily="34" charset="-122"/>
                <a:cs typeface="Calibri" pitchFamily="34" charset="-120"/>
              </a:rPr>
              <a:t>Meets genre and tone, “but falls short on the runtime constraint”; score tracks the audit (FAIL, 0.529).</a:t>
            </a:r>
            <a:endParaRPr lang="en-US" sz="2015" dirty="0"/>
          </a:p>
        </p:txBody>
      </p:sp>
      <p:sp>
        <p:nvSpPr>
          <p:cNvPr id="21" name="Text 18"/>
          <p:cNvSpPr/>
          <p:nvPr/>
        </p:nvSpPr>
        <p:spPr>
          <a:xfrm>
            <a:off x="548640" y="5440680"/>
            <a:ext cx="11064240" cy="731520"/>
          </a:xfrm>
          <a:prstGeom prst="rect">
            <a:avLst/>
          </a:prstGeom>
          <a:noFill/>
          <a:ln/>
        </p:spPr>
        <p:txBody>
          <a:bodyPr wrap="square" lIns="0" tIns="0" rIns="0" bIns="0" rtlCol="0" anchor="ctr"/>
          <a:lstStyle/>
          <a:p>
            <a:pPr indent="0" marL="0">
              <a:buNone/>
            </a:pPr>
            <a:r>
              <a:rPr lang="en-US" sz="2210" b="1" dirty="0">
                <a:solidFill>
                  <a:srgbClr val="1F3864"/>
                </a:solidFill>
                <a:latin typeface="Calibri" pitchFamily="34" charset="0"/>
                <a:ea typeface="Calibri" pitchFamily="34" charset="-122"/>
                <a:cs typeface="Calibri" pitchFamily="34" charset="-120"/>
              </a:rPr>
              <a:t>The audit, not the more flattering argument, set the score.</a:t>
            </a:r>
            <a:endParaRPr lang="en-US" sz="22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Comparison with existing approaches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1188720"/>
                <a:gridCol w="6583680"/>
              </a:tblGrid>
              <a:tr h="0">
                <a:tc>
                  <a:txBody>
                    <a:bodyPr/>
                    <a:lstStyle/>
                    <a:p>
                      <a:pPr indent="0" marL="0">
                        <a:buNone/>
                      </a:pPr>
                      <a:r>
                        <a:rPr lang="en-US" sz="2015" b="1" dirty="0">
                          <a:solidFill>
                            <a:srgbClr val="FFFFFF"/>
                          </a:solidFill>
                          <a:latin typeface="Calibri" pitchFamily="34" charset="0"/>
                          <a:ea typeface="Calibri" pitchFamily="34" charset="-122"/>
                          <a:cs typeface="Calibri" pitchFamily="34" charset="-120"/>
                        </a:rPr>
                        <a:t>Approach</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2015" b="1" dirty="0">
                          <a:solidFill>
                            <a:srgbClr val="FFFFFF"/>
                          </a:solidFill>
                          <a:latin typeface="Calibri" pitchFamily="34" charset="0"/>
                          <a:ea typeface="Calibri" pitchFamily="34" charset="-122"/>
                          <a:cs typeface="Calibri" pitchFamily="34" charset="-120"/>
                        </a:rPr>
                        <a:t>Refs</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c>
                  <a:txBody>
                    <a:bodyPr/>
                    <a:lstStyle/>
                    <a:p>
                      <a:pPr indent="0" marL="0">
                        <a:buNone/>
                      </a:pPr>
                      <a:r>
                        <a:rPr lang="en-US" sz="2015" b="1" dirty="0">
                          <a:solidFill>
                            <a:srgbClr val="FFFFFF"/>
                          </a:solidFill>
                          <a:latin typeface="Calibri" pitchFamily="34" charset="0"/>
                          <a:ea typeface="Calibri" pitchFamily="34" charset="-122"/>
                          <a:cs typeface="Calibri" pitchFamily="34" charset="-120"/>
                        </a:rPr>
                        <a:t>How DebateRec differs</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3864"/>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Classical CF / content-based</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[1]-[5]</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Adds free-text understanding and a debate-generated explanation</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Single-LLM recommenders</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[6]-[10]</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Adds an adversarial check the model cannot override (deterministic audit)</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Conversational recommenders</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[11]-[14]</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Single-turn here (a limitation), but adds debate and audit</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Explainable recommendation</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[15]</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Auditable pro/con transcript instead of one narrative</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Multi-agent debate / LLM-judge</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[16]-[21]</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First use on constraint-grounded item recommendation in this survey</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algn="l" indent="0" marL="0">
                        <a:buNone/>
                      </a:pPr>
                      <a:r>
                        <a:rPr lang="en-US" sz="2015" b="1" dirty="0">
                          <a:solidFill>
                            <a:srgbClr val="1F2937"/>
                          </a:solidFill>
                          <a:latin typeface="Calibri" pitchFamily="34" charset="0"/>
                          <a:ea typeface="Calibri" pitchFamily="34" charset="-122"/>
                          <a:cs typeface="Calibri" pitchFamily="34" charset="-120"/>
                        </a:rPr>
                        <a:t>Constraint-based recommenders</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[26]-[28]</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c>
                  <a:txBody>
                    <a:bodyPr/>
                    <a:lstStyle/>
                    <a:p>
                      <a:pPr algn="l" indent="0" marL="0">
                        <a:buNone/>
                      </a:pPr>
                      <a:r>
                        <a:rPr lang="en-US" sz="2015" dirty="0">
                          <a:solidFill>
                            <a:srgbClr val="1F2937"/>
                          </a:solidFill>
                          <a:latin typeface="Calibri" pitchFamily="34" charset="0"/>
                          <a:ea typeface="Calibri" pitchFamily="34" charset="-122"/>
                          <a:cs typeface="Calibri" pitchFamily="34" charset="-120"/>
                        </a:rPr>
                        <a:t>Same hard / soft idea, plus language understanding and argumentation</a:t>
                      </a:r>
                      <a:endParaRPr lang="en-US" sz="2015"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Limitations and future work</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8" name="Text 5"/>
          <p:cNvSpPr/>
          <p:nvPr/>
        </p:nvSpPr>
        <p:spPr>
          <a:xfrm>
            <a:off x="548640" y="1234440"/>
            <a:ext cx="5303520" cy="411480"/>
          </a:xfrm>
          <a:prstGeom prst="rect">
            <a:avLst/>
          </a:prstGeom>
          <a:noFill/>
          <a:ln/>
        </p:spPr>
        <p:txBody>
          <a:bodyPr wrap="square" lIns="0" tIns="0" rIns="0" bIns="0" rtlCol="0" anchor="ctr"/>
          <a:lstStyle/>
          <a:p>
            <a:pPr indent="0" marL="0">
              <a:buNone/>
            </a:pPr>
            <a:r>
              <a:rPr lang="en-US" sz="2600" b="1" dirty="0">
                <a:solidFill>
                  <a:srgbClr val="B91C1C"/>
                </a:solidFill>
                <a:latin typeface="Calibri" pitchFamily="34" charset="0"/>
                <a:ea typeface="Calibri" pitchFamily="34" charset="-122"/>
                <a:cs typeface="Calibri" pitchFamily="34" charset="-120"/>
              </a:rPr>
              <a:t>Limitations</a:t>
            </a:r>
            <a:endParaRPr lang="en-US" sz="2600" dirty="0"/>
          </a:p>
        </p:txBody>
      </p:sp>
      <p:sp>
        <p:nvSpPr>
          <p:cNvPr id="9" name="Text 6"/>
          <p:cNvSpPr/>
          <p:nvPr/>
        </p:nvSpPr>
        <p:spPr>
          <a:xfrm>
            <a:off x="548640" y="1691640"/>
            <a:ext cx="5303520" cy="4480560"/>
          </a:xfrm>
          <a:prstGeom prst="rect">
            <a:avLst/>
          </a:prstGeom>
          <a:noFill/>
          <a:ln/>
        </p:spPr>
        <p:txBody>
          <a:bodyPr wrap="square" lIns="635" tIns="635" rIns="635" bIns="635" rtlCol="0" anchor="t"/>
          <a:lstStyle/>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Live debate run covers 8 queries and 5 candidates; results are directional</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22,400 of 22,614 records are synthetic</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Extraction is single-turn</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Eval harness LLM-call counter is cumulative; tests error under a live provider</a:t>
            </a:r>
            <a:endParaRPr lang="en-US" sz="2080" dirty="0"/>
          </a:p>
        </p:txBody>
      </p:sp>
      <p:sp>
        <p:nvSpPr>
          <p:cNvPr id="10" name="Text 7"/>
          <p:cNvSpPr/>
          <p:nvPr/>
        </p:nvSpPr>
        <p:spPr>
          <a:xfrm>
            <a:off x="6309360" y="1234440"/>
            <a:ext cx="5303520" cy="411480"/>
          </a:xfrm>
          <a:prstGeom prst="rect">
            <a:avLst/>
          </a:prstGeom>
          <a:noFill/>
          <a:ln/>
        </p:spPr>
        <p:txBody>
          <a:bodyPr wrap="square" lIns="0" tIns="0" rIns="0" bIns="0" rtlCol="0" anchor="ctr"/>
          <a:lstStyle/>
          <a:p>
            <a:pPr indent="0" marL="0">
              <a:buNone/>
            </a:pPr>
            <a:r>
              <a:rPr lang="en-US" sz="2600" b="1" dirty="0">
                <a:solidFill>
                  <a:srgbClr val="15803D"/>
                </a:solidFill>
                <a:latin typeface="Calibri" pitchFamily="34" charset="0"/>
                <a:ea typeface="Calibri" pitchFamily="34" charset="-122"/>
                <a:cs typeface="Calibri" pitchFamily="34" charset="-120"/>
              </a:rPr>
              <a:t>Future work</a:t>
            </a:r>
            <a:endParaRPr lang="en-US" sz="2600" dirty="0"/>
          </a:p>
        </p:txBody>
      </p:sp>
      <p:sp>
        <p:nvSpPr>
          <p:cNvPr id="11" name="Text 8"/>
          <p:cNvSpPr/>
          <p:nvPr/>
        </p:nvSpPr>
        <p:spPr>
          <a:xfrm>
            <a:off x="6309360" y="1691640"/>
            <a:ext cx="5303520" cy="4480560"/>
          </a:xfrm>
          <a:prstGeom prst="rect">
            <a:avLst/>
          </a:prstGeom>
          <a:noFill/>
          <a:ln/>
        </p:spPr>
        <p:txBody>
          <a:bodyPr wrap="square" lIns="635" tIns="635" rIns="635" bIns="635" rtlCol="0" anchor="t"/>
          <a:lstStyle/>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Matched 21-query, 8-candidate run with Wilcoxon and Cohen's d</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Public datasets (MovieLens, TMDB, Goodbooks) via adapters</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Dense retrieval vs. lexical default</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Multi-turn elicitation and a user study of explanation usefulness</a:t>
            </a:r>
            <a:endParaRPr lang="en-US" sz="2080" dirty="0"/>
          </a:p>
          <a:p>
            <a:pPr marL="203200" indent="-203200">
              <a:spcAft>
                <a:spcPts val="600"/>
              </a:spcAft>
              <a:buSzPct val="100000"/>
              <a:buChar char="•"/>
            </a:pPr>
            <a:r>
              <a:rPr lang="en-US" sz="2080" dirty="0">
                <a:solidFill>
                  <a:srgbClr val="1F2937"/>
                </a:solidFill>
                <a:latin typeface="Calibri" pitchFamily="34" charset="0"/>
                <a:ea typeface="Calibri" pitchFamily="34" charset="-122"/>
                <a:cs typeface="Calibri" pitchFamily="34" charset="-120"/>
              </a:rPr>
              <a:t>Fix the two tooling bugs</a:t>
            </a:r>
            <a:endParaRPr lang="en-US" sz="2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8" name="Text 5"/>
          <p:cNvSpPr/>
          <p:nvPr/>
        </p:nvSpPr>
        <p:spPr>
          <a:xfrm>
            <a:off x="548640" y="1371600"/>
            <a:ext cx="11064240" cy="4754880"/>
          </a:xfrm>
          <a:prstGeom prst="rect">
            <a:avLst/>
          </a:prstGeom>
          <a:noFill/>
          <a:ln/>
        </p:spPr>
        <p:txBody>
          <a:bodyPr wrap="square" lIns="635" tIns="635" rIns="635" bIns="635" rtlCol="0" anchor="t"/>
          <a:lstStyle/>
          <a:p>
            <a:pPr marL="203200" indent="-203200">
              <a:spcAft>
                <a:spcPts val="600"/>
              </a:spcAft>
              <a:buSzPct val="100000"/>
              <a:buChar char="•"/>
            </a:pPr>
            <a:r>
              <a:rPr lang="en-US" sz="2600" dirty="0">
                <a:solidFill>
                  <a:srgbClr val="1F2937"/>
                </a:solidFill>
                <a:latin typeface="Calibri" pitchFamily="34" charset="0"/>
                <a:ea typeface="Calibri" pitchFamily="34" charset="-122"/>
                <a:cs typeface="Calibri" pitchFamily="34" charset="-120"/>
              </a:rPr>
              <a:t>Built a debate-based, multi-domain recommender whose Judge is bound to a deterministic constraint audit</a:t>
            </a:r>
            <a:endParaRPr lang="en-US" sz="2600" dirty="0"/>
          </a:p>
          <a:p>
            <a:pPr marL="203200" indent="-203200">
              <a:spcAft>
                <a:spcPts val="600"/>
              </a:spcAft>
              <a:buSzPct val="100000"/>
              <a:buChar char="•"/>
            </a:pPr>
            <a:r>
              <a:rPr lang="en-US" sz="2600" dirty="0">
                <a:solidFill>
                  <a:srgbClr val="1F2937"/>
                </a:solidFill>
                <a:latin typeface="Calibri" pitchFamily="34" charset="0"/>
                <a:ea typeface="Calibri" pitchFamily="34" charset="-122"/>
                <a:cs typeface="Calibri" pitchFamily="34" charset="-120"/>
              </a:rPr>
              <a:t>Works offline: Gemini, Ollama or a no-key deterministic fallback, switchable at runtime</a:t>
            </a:r>
            <a:endParaRPr lang="en-US" sz="2600" dirty="0"/>
          </a:p>
          <a:p>
            <a:pPr marL="203200" indent="-203200">
              <a:spcAft>
                <a:spcPts val="600"/>
              </a:spcAft>
              <a:buSzPct val="100000"/>
              <a:buChar char="•"/>
            </a:pPr>
            <a:r>
              <a:rPr lang="en-US" sz="2600" dirty="0">
                <a:solidFill>
                  <a:srgbClr val="1F2937"/>
                </a:solidFill>
                <a:latin typeface="Calibri" pitchFamily="34" charset="0"/>
                <a:ea typeface="Calibri" pitchFamily="34" charset="-122"/>
                <a:cs typeface="Calibri" pitchFamily="34" charset="-120"/>
              </a:rPr>
              <a:t>34/34 tests pass; hybrid retrieval lifts NDCG@5 from 0.194 to 0.720</a:t>
            </a:r>
            <a:endParaRPr lang="en-US" sz="2600" dirty="0"/>
          </a:p>
          <a:p>
            <a:pPr marL="203200" indent="-203200">
              <a:spcAft>
                <a:spcPts val="600"/>
              </a:spcAft>
              <a:buSzPct val="100000"/>
              <a:buChar char="•"/>
            </a:pPr>
            <a:r>
              <a:rPr lang="en-US" sz="2600" dirty="0">
                <a:solidFill>
                  <a:srgbClr val="1F2937"/>
                </a:solidFill>
                <a:latin typeface="Calibri" pitchFamily="34" charset="0"/>
                <a:ea typeface="Calibri" pitchFamily="34" charset="-122"/>
                <a:cs typeface="Calibri" pitchFamily="34" charset="-120"/>
              </a:rPr>
              <a:t>Live transcripts show the Critic catching an overstated claim</a:t>
            </a:r>
            <a:endParaRPr lang="en-US" sz="2600" dirty="0"/>
          </a:p>
          <a:p>
            <a:pPr marL="203200" indent="-203200">
              <a:spcAft>
                <a:spcPts val="600"/>
              </a:spcAft>
              <a:buSzPct val="100000"/>
              <a:buChar char="•"/>
            </a:pPr>
            <a:r>
              <a:rPr lang="en-US" sz="2600" dirty="0">
                <a:solidFill>
                  <a:srgbClr val="1F2937"/>
                </a:solidFill>
                <a:latin typeface="Calibri" pitchFamily="34" charset="0"/>
                <a:ea typeface="Calibri" pitchFamily="34" charset="-122"/>
                <a:cs typeface="Calibri" pitchFamily="34" charset="-120"/>
              </a:rPr>
              <a:t>Debate's ranking benefit is inconclusive so far; the matched paired run decides it</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3864"/>
          </a:solidFill>
          <a:ln w="12700">
            <a:solidFill>
              <a:srgbClr val="1F3864"/>
            </a:solidFill>
            <a:prstDash val="solid"/>
          </a:ln>
        </p:spPr>
      </p:sp>
      <p:sp>
        <p:nvSpPr>
          <p:cNvPr id="3" name="Text 1"/>
          <p:cNvSpPr/>
          <p:nvPr/>
        </p:nvSpPr>
        <p:spPr>
          <a:xfrm>
            <a:off x="548640" y="274320"/>
            <a:ext cx="11091672" cy="73152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Selected references</a:t>
            </a:r>
            <a:endParaRPr lang="en-US" sz="2800" dirty="0"/>
          </a:p>
        </p:txBody>
      </p:sp>
      <p:sp>
        <p:nvSpPr>
          <p:cNvPr id="4" name="Shape 2"/>
          <p:cNvSpPr/>
          <p:nvPr/>
        </p:nvSpPr>
        <p:spPr>
          <a:xfrm>
            <a:off x="548640" y="1024128"/>
            <a:ext cx="1097280" cy="0"/>
          </a:xfrm>
          <a:prstGeom prst="line">
            <a:avLst/>
          </a:prstGeom>
          <a:noFill/>
          <a:ln w="38100">
            <a:solidFill>
              <a:srgbClr val="2563EB"/>
            </a:solidFill>
            <a:prstDash val="solid"/>
          </a:ln>
        </p:spPr>
      </p:sp>
      <p:sp>
        <p:nvSpPr>
          <p:cNvPr id="5" name="Text 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DebateRec  |  CSE4077 Recommender Systems</a:t>
            </a:r>
            <a:endParaRPr lang="en-US" sz="1000" dirty="0"/>
          </a:p>
        </p:txBody>
      </p:sp>
      <p:sp>
        <p:nvSpPr>
          <p:cNvPr id="6" name="Text 4"/>
          <p:cNvSpPr/>
          <p:nvPr/>
        </p:nvSpPr>
        <p:spPr>
          <a:xfrm>
            <a:off x="10908792" y="6446520"/>
            <a:ext cx="73152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8" name="Text 5"/>
          <p:cNvSpPr/>
          <p:nvPr/>
        </p:nvSpPr>
        <p:spPr>
          <a:xfrm>
            <a:off x="548640" y="1234440"/>
            <a:ext cx="11064240" cy="4023360"/>
          </a:xfrm>
          <a:prstGeom prst="rect">
            <a:avLst/>
          </a:prstGeom>
          <a:noFill/>
          <a:ln/>
        </p:spPr>
        <p:txBody>
          <a:bodyPr wrap="square" lIns="635" tIns="635" rIns="635" bIns="635" rtlCol="0" anchor="t"/>
          <a:lstStyle/>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[9] Y. Hou et al., “Large language models are zero-shot rankers for recommender systems,” ECIR, 2024.</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[13] J. Huang et al., “A multi-agent conversational recommender system,” arXiv:2402.01135, 2024.</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[16] Y. Du et al., “Improving factuality and reasoning in language models through multiagent debate,” ICML, 2024.</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[17] T. Liang et al., “Encouraging divergent thinking in LLMs through multi-agent debate,” EMNLP, 2024.</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[19] A. Smit et al., “Rethinking the bounds of LLM reasoning: Are multi-agent discussions the key?,” ACL, 2024.</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[20] L. Zheng et al., “Judging LLM-as-a-judge with MT-bench and chatbot arena,” NeurIPS, 2023.</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[22] S. Robertson and H. Zaragoza, “The probabilistic relevance framework: BM25 and beyond,” FnTIR, 2009.</a:t>
            </a:r>
            <a:endParaRPr lang="en-US" sz="1820" dirty="0"/>
          </a:p>
          <a:p>
            <a:pPr indent="0" marL="0">
              <a:spcAft>
                <a:spcPts val="600"/>
              </a:spcAft>
              <a:buNone/>
            </a:pPr>
            <a:r>
              <a:rPr lang="en-US" sz="1820" dirty="0">
                <a:solidFill>
                  <a:srgbClr val="1F2937"/>
                </a:solidFill>
                <a:latin typeface="Calibri" pitchFamily="34" charset="0"/>
                <a:ea typeface="Calibri" pitchFamily="34" charset="-122"/>
                <a:cs typeface="Calibri" pitchFamily="34" charset="-120"/>
              </a:rPr>
              <a:t>[26] A. Felfernig and R. Burke, “Constraint-based recommender systems,” ICEC, 2008.</a:t>
            </a:r>
            <a:endParaRPr lang="en-US" sz="1820" dirty="0"/>
          </a:p>
        </p:txBody>
      </p:sp>
      <p:sp>
        <p:nvSpPr>
          <p:cNvPr id="9" name="Shape 6"/>
          <p:cNvSpPr/>
          <p:nvPr/>
        </p:nvSpPr>
        <p:spPr>
          <a:xfrm>
            <a:off x="548640" y="5440680"/>
            <a:ext cx="11064240" cy="822960"/>
          </a:xfrm>
          <a:prstGeom prst="roundRect">
            <a:avLst>
              <a:gd name="adj" fmla="val 11111"/>
            </a:avLst>
          </a:prstGeom>
          <a:solidFill>
            <a:srgbClr val="1F3864"/>
          </a:solidFill>
          <a:ln w="12700">
            <a:solidFill>
              <a:srgbClr val="1F3864"/>
            </a:solidFill>
            <a:prstDash val="solid"/>
          </a:ln>
        </p:spPr>
      </p:sp>
      <p:sp>
        <p:nvSpPr>
          <p:cNvPr id="10" name="Text 7"/>
          <p:cNvSpPr/>
          <p:nvPr/>
        </p:nvSpPr>
        <p:spPr>
          <a:xfrm>
            <a:off x="548640" y="5440680"/>
            <a:ext cx="11064240" cy="822960"/>
          </a:xfrm>
          <a:prstGeom prst="rect">
            <a:avLst/>
          </a:prstGeom>
          <a:noFill/>
          <a:ln/>
        </p:spPr>
        <p:txBody>
          <a:bodyPr wrap="square" lIns="0" tIns="0" rIns="0" bIns="0" rtlCol="0" anchor="ctr"/>
          <a:lstStyle/>
          <a:p>
            <a:pPr algn="ctr" indent="0" marL="0">
              <a:buNone/>
            </a:pPr>
            <a:r>
              <a:rPr lang="en-US" sz="2860" b="1" dirty="0">
                <a:solidFill>
                  <a:srgbClr val="FFFFFF"/>
                </a:solidFill>
                <a:latin typeface="Calibri" pitchFamily="34" charset="0"/>
                <a:ea typeface="Calibri" pitchFamily="34" charset="-122"/>
                <a:cs typeface="Calibri" pitchFamily="34" charset="-120"/>
              </a:rPr>
              <a:t>Thank you  |  Questions and live demo</a:t>
            </a:r>
            <a:endParaRPr lang="en-US" sz="2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DebateRec - AI Debate-Based Multi-Domain Recommendation System</dc:title>
  <dc:subject>PptxGenJS Presentation</dc:subject>
  <dc:creator>PptxGenJS</dc:creator>
  <cp:lastModifiedBy>PptxGenJS</cp:lastModifiedBy>
  <cp:revision>1</cp:revision>
  <dcterms:created xsi:type="dcterms:W3CDTF">2026-10-25T07:39:22Z</dcterms:created>
  <dcterms:modified xsi:type="dcterms:W3CDTF">2026-10-25T07:39:22Z</dcterms:modified>
</cp:coreProperties>
</file>